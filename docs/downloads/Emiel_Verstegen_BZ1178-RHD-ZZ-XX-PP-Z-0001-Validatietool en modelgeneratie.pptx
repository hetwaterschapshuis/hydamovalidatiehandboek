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48" r:id="rId2"/>
    <p:sldId id="359" r:id="rId3"/>
    <p:sldId id="352" r:id="rId4"/>
    <p:sldId id="353" r:id="rId5"/>
    <p:sldId id="355" r:id="rId6"/>
    <p:sldId id="362" r:id="rId7"/>
    <p:sldId id="354" r:id="rId8"/>
    <p:sldId id="361" r:id="rId9"/>
    <p:sldId id="356" r:id="rId10"/>
    <p:sldId id="363" r:id="rId11"/>
    <p:sldId id="357" r:id="rId12"/>
    <p:sldId id="368" r:id="rId13"/>
    <p:sldId id="364" r:id="rId14"/>
    <p:sldId id="367" r:id="rId15"/>
    <p:sldId id="366" r:id="rId16"/>
  </p:sldIdLst>
  <p:sldSz cx="9144000" cy="5143500" type="screen16x9"/>
  <p:notesSz cx="6810375" cy="9942513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EE29B5-B088-4F7E-8567-77AE78C72CBA}">
          <p14:sldIdLst>
            <p14:sldId id="348"/>
            <p14:sldId id="359"/>
            <p14:sldId id="352"/>
            <p14:sldId id="353"/>
            <p14:sldId id="355"/>
            <p14:sldId id="362"/>
            <p14:sldId id="354"/>
            <p14:sldId id="361"/>
            <p14:sldId id="356"/>
            <p14:sldId id="363"/>
            <p14:sldId id="357"/>
          </p14:sldIdLst>
        </p14:section>
        <p14:section name="Break out session" id="{C973EBA9-BB19-419A-BB41-77F0FE7C9FFB}">
          <p14:sldIdLst>
            <p14:sldId id="368"/>
            <p14:sldId id="364"/>
            <p14:sldId id="367"/>
            <p14:sldId id="3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03">
          <p15:clr>
            <a:srgbClr val="A4A3A4"/>
          </p15:clr>
        </p15:guide>
        <p15:guide id="2" orient="horz" pos="1755">
          <p15:clr>
            <a:srgbClr val="A4A3A4"/>
          </p15:clr>
        </p15:guide>
        <p15:guide id="3" orient="horz" pos="2174">
          <p15:clr>
            <a:srgbClr val="A4A3A4"/>
          </p15:clr>
        </p15:guide>
        <p15:guide id="4" orient="horz" pos="3114">
          <p15:clr>
            <a:srgbClr val="A4A3A4"/>
          </p15:clr>
        </p15:guide>
        <p15:guide id="5" orient="horz" pos="2412">
          <p15:clr>
            <a:srgbClr val="A4A3A4"/>
          </p15:clr>
        </p15:guide>
        <p15:guide id="6">
          <p15:clr>
            <a:srgbClr val="A4A3A4"/>
          </p15:clr>
        </p15:guide>
        <p15:guide id="7" orient="horz">
          <p15:clr>
            <a:srgbClr val="A4A3A4"/>
          </p15:clr>
        </p15:guide>
        <p15:guide id="8" orient="horz" pos="32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inka  Erkens - Janssen" initials="KE-J" lastIdx="11" clrIdx="0"/>
  <p:cmAuthor id="1" name="Jane Smith" initials="JS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759F"/>
    <a:srgbClr val="F39600"/>
    <a:srgbClr val="811066"/>
    <a:srgbClr val="A5C100"/>
    <a:srgbClr val="0086A8"/>
    <a:srgbClr val="00577E"/>
    <a:srgbClr val="FF0066"/>
    <a:srgbClr val="C7D300"/>
    <a:srgbClr val="4BACC6"/>
    <a:srgbClr val="729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0610" autoAdjust="0"/>
  </p:normalViewPr>
  <p:slideViewPr>
    <p:cSldViewPr>
      <p:cViewPr varScale="1">
        <p:scale>
          <a:sx n="103" d="100"/>
          <a:sy n="103" d="100"/>
        </p:scale>
        <p:origin x="902" y="72"/>
      </p:cViewPr>
      <p:guideLst>
        <p:guide orient="horz" pos="803"/>
        <p:guide orient="horz" pos="1755"/>
        <p:guide orient="horz" pos="2174"/>
        <p:guide orient="horz" pos="3114"/>
        <p:guide orient="horz" pos="2412"/>
        <p:guide/>
        <p:guide orient="horz"/>
        <p:guide orient="horz" pos="3239"/>
      </p:guideLst>
    </p:cSldViewPr>
  </p:slideViewPr>
  <p:outlineViewPr>
    <p:cViewPr>
      <p:scale>
        <a:sx n="33" d="100"/>
        <a:sy n="33" d="100"/>
      </p:scale>
      <p:origin x="0" y="18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70" y="-120"/>
      </p:cViewPr>
      <p:guideLst>
        <p:guide orient="horz" pos="3132"/>
        <p:guide pos="214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7636" y="0"/>
            <a:ext cx="2951163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0685E-4C7D-43DA-A5CC-0B0D5026355F}" type="datetimeFigureOut">
              <a:rPr lang="en-GB" smtClean="0"/>
              <a:t>08/02/2023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51163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Open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7636" y="9443662"/>
            <a:ext cx="2951163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853F6-AE1D-4F34-9804-4AB3DFEE84B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75161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7636" y="0"/>
            <a:ext cx="2951163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1F812-77C3-42B3-B29F-C106ACEB85AA}" type="datetimeFigureOut">
              <a:rPr lang="en-GB" smtClean="0"/>
              <a:t>07/02/2023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694"/>
            <a:ext cx="544830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163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Open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7636" y="9443662"/>
            <a:ext cx="2951163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6360D-640D-4769-B230-0EDE5D3F7E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78758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HydroObjecten</a:t>
            </a:r>
            <a:r>
              <a:rPr lang="en-US" dirty="0"/>
              <a:t> </a:t>
            </a:r>
            <a:r>
              <a:rPr lang="en-US" dirty="0" err="1"/>
              <a:t>krijgen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rating van 0 tot 10.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weergegeven</a:t>
            </a:r>
            <a:r>
              <a:rPr lang="en-US" dirty="0"/>
              <a:t>.</a:t>
            </a:r>
          </a:p>
          <a:p>
            <a:r>
              <a:rPr lang="en-US" dirty="0"/>
              <a:t>Rating </a:t>
            </a:r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zegt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zoveel</a:t>
            </a:r>
            <a:r>
              <a:rPr lang="en-US" dirty="0"/>
              <a:t>. </a:t>
            </a:r>
            <a:r>
              <a:rPr lang="en-US" dirty="0" err="1"/>
              <a:t>Sommige</a:t>
            </a:r>
            <a:r>
              <a:rPr lang="en-US" dirty="0"/>
              <a:t> </a:t>
            </a:r>
            <a:r>
              <a:rPr lang="en-US" dirty="0" err="1"/>
              <a:t>fouten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kritisch</a:t>
            </a:r>
            <a:r>
              <a:rPr lang="en-US" dirty="0"/>
              <a:t>, </a:t>
            </a:r>
            <a:r>
              <a:rPr lang="en-US" dirty="0" err="1"/>
              <a:t>anderen</a:t>
            </a:r>
            <a:r>
              <a:rPr lang="en-US" dirty="0"/>
              <a:t> </a:t>
            </a:r>
            <a:r>
              <a:rPr lang="en-US" dirty="0" err="1"/>
              <a:t>niet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6360D-640D-4769-B230-0EDE5D3F7EE4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895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Verkeerde</a:t>
            </a:r>
            <a:r>
              <a:rPr lang="en-US" dirty="0"/>
              <a:t> </a:t>
            </a:r>
            <a:r>
              <a:rPr lang="en-US" dirty="0" err="1"/>
              <a:t>tekenrichting</a:t>
            </a:r>
            <a:r>
              <a:rPr lang="en-US" dirty="0"/>
              <a:t>? </a:t>
            </a:r>
            <a:r>
              <a:rPr lang="en-US" dirty="0" err="1"/>
              <a:t>Hoeft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implicaties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 in het model. In </a:t>
            </a:r>
            <a:r>
              <a:rPr lang="en-US" dirty="0" err="1"/>
              <a:t>veel</a:t>
            </a:r>
            <a:r>
              <a:rPr lang="en-US" dirty="0"/>
              <a:t> polders is er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vaste</a:t>
            </a:r>
            <a:r>
              <a:rPr lang="en-US" dirty="0"/>
              <a:t> </a:t>
            </a:r>
            <a:r>
              <a:rPr lang="en-US" dirty="0" err="1"/>
              <a:t>stromingsrichting</a:t>
            </a:r>
            <a:endParaRPr lang="en-US" dirty="0"/>
          </a:p>
          <a:p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opsplitsing</a:t>
            </a:r>
            <a:r>
              <a:rPr lang="en-US" dirty="0"/>
              <a:t>? </a:t>
            </a:r>
            <a:r>
              <a:rPr lang="en-US" dirty="0" err="1"/>
              <a:t>Afhankelijk</a:t>
            </a:r>
            <a:r>
              <a:rPr lang="en-US" dirty="0"/>
              <a:t> van </a:t>
            </a:r>
            <a:r>
              <a:rPr lang="en-US" dirty="0" err="1"/>
              <a:t>modelpakket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modelbouwscripts</a:t>
            </a:r>
            <a:r>
              <a:rPr lang="en-US" dirty="0"/>
              <a:t>.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je </a:t>
            </a:r>
            <a:r>
              <a:rPr lang="en-US" dirty="0" err="1"/>
              <a:t>genoeg</a:t>
            </a:r>
            <a:r>
              <a:rPr lang="en-US" dirty="0"/>
              <a:t> </a:t>
            </a:r>
            <a:r>
              <a:rPr lang="en-US" dirty="0" err="1"/>
              <a:t>profielen</a:t>
            </a:r>
            <a:r>
              <a:rPr lang="en-US" dirty="0"/>
              <a:t> </a:t>
            </a:r>
            <a:r>
              <a:rPr lang="en-US" dirty="0" err="1"/>
              <a:t>hebt</a:t>
            </a:r>
            <a:r>
              <a:rPr lang="en-US" dirty="0"/>
              <a:t>, </a:t>
            </a:r>
            <a:r>
              <a:rPr lang="en-US" dirty="0" err="1"/>
              <a:t>hoeft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probleem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6360D-640D-4769-B230-0EDE5D3F7EE4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81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Uitstapje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6360D-640D-4769-B230-0EDE5D3F7EE4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3869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Duplicate of </a:t>
            </a:r>
            <a:r>
              <a:rPr lang="en-US" dirty="0" err="1"/>
              <a:t>bijna</a:t>
            </a:r>
            <a:r>
              <a:rPr lang="en-US" dirty="0"/>
              <a:t>-duplicate</a:t>
            </a:r>
            <a:r>
              <a:rPr lang="nl-NL" dirty="0"/>
              <a:t> </a:t>
            </a:r>
            <a:r>
              <a:rPr lang="nl-NL" dirty="0" err="1"/>
              <a:t>hydroobjecten</a:t>
            </a:r>
            <a:r>
              <a:rPr lang="nl-NL" dirty="0"/>
              <a:t> wel (bijna) altijd een probleem. Voor duikers zit dit wel in de </a:t>
            </a:r>
            <a:r>
              <a:rPr lang="nl-NL" dirty="0" err="1"/>
              <a:t>toolbox</a:t>
            </a:r>
            <a:r>
              <a:rPr lang="nl-NL" dirty="0"/>
              <a:t>, voor </a:t>
            </a:r>
            <a:r>
              <a:rPr lang="nl-NL" dirty="0" err="1"/>
              <a:t>HydroObjecten</a:t>
            </a:r>
            <a:r>
              <a:rPr lang="nl-NL" dirty="0"/>
              <a:t> niet.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Eenvoudig een regel toevoegen?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dirty="0"/>
              <a:t>Is het eenvoudig uit te breiden of komt er veel bij kijken?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dirty="0"/>
              <a:t>Eenvoudig regels in de ‘standaard-set’ te laten landen? Of heel technisch en bureaucratisch proces? Gaan we per bureau of waterschap een eigen validatiebestand opzetten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6360D-640D-4769-B230-0EDE5D3F7EE4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3333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groot</a:t>
            </a:r>
            <a:r>
              <a:rPr lang="en-US" dirty="0"/>
              <a:t> </a:t>
            </a:r>
            <a:r>
              <a:rPr lang="en-US" dirty="0" err="1"/>
              <a:t>verhang</a:t>
            </a:r>
            <a:r>
              <a:rPr lang="en-US" dirty="0"/>
              <a:t>? Limburg</a:t>
            </a:r>
          </a:p>
          <a:p>
            <a:r>
              <a:rPr lang="en-US" dirty="0" err="1"/>
              <a:t>Lengte</a:t>
            </a:r>
            <a:r>
              <a:rPr lang="en-US" dirty="0"/>
              <a:t> &lt;1. Kan correct </a:t>
            </a:r>
            <a:r>
              <a:rPr lang="en-US" dirty="0" err="1"/>
              <a:t>zijn</a:t>
            </a:r>
            <a:r>
              <a:rPr lang="en-US" dirty="0"/>
              <a:t>, maar </a:t>
            </a:r>
            <a:r>
              <a:rPr lang="en-US" dirty="0" err="1"/>
              <a:t>mogelijk</a:t>
            </a:r>
            <a:r>
              <a:rPr lang="en-US" dirty="0"/>
              <a:t> </a:t>
            </a:r>
            <a:r>
              <a:rPr lang="en-US" dirty="0" err="1"/>
              <a:t>wel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probleem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de </a:t>
            </a:r>
            <a:r>
              <a:rPr lang="en-US" dirty="0" err="1"/>
              <a:t>modellering</a:t>
            </a:r>
            <a:r>
              <a:rPr lang="en-US" dirty="0"/>
              <a:t>.</a:t>
            </a:r>
            <a:r>
              <a:rPr lang="nl-NL" dirty="0"/>
              <a:t> Weet je in ieder geval wel waar op te letten</a:t>
            </a:r>
          </a:p>
          <a:p>
            <a:r>
              <a:rPr lang="nl-NL" dirty="0"/>
              <a:t>Niet netjes op </a:t>
            </a:r>
            <a:r>
              <a:rPr lang="nl-NL" dirty="0" err="1"/>
              <a:t>HydroObject</a:t>
            </a:r>
            <a:r>
              <a:rPr lang="nl-NL" dirty="0"/>
              <a:t>. Hoeft geen probleem te zijn, afhankelijk van modelbouwscripts en modelpakket. Voor betere datakwaliteit zou ik dit als waterschap wel oplossen.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6360D-640D-4769-B230-0EDE5D3F7EE4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1289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Exter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fopic">
            <a:extLst>
              <a:ext uri="{FF2B5EF4-FFF2-40B4-BE49-F238E27FC236}">
                <a16:creationId xmlns:a16="http://schemas.microsoft.com/office/drawing/2014/main" id="{7C475F6C-2ECB-464E-BDAB-47756BF9D6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000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91408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Rectangle 5"/>
          <p:cNvSpPr>
            <a:spLocks noChangeArrowheads="1"/>
          </p:cNvSpPr>
          <p:nvPr userDrawn="1"/>
        </p:nvSpPr>
        <p:spPr bwMode="auto">
          <a:xfrm>
            <a:off x="1589" y="0"/>
            <a:ext cx="9140825" cy="5141118"/>
          </a:xfrm>
          <a:prstGeom prst="rect">
            <a:avLst/>
          </a:prstGeom>
          <a:noFill/>
          <a:ln w="0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Freeform 5"/>
          <p:cNvSpPr>
            <a:spLocks noChangeAspect="1"/>
          </p:cNvSpPr>
          <p:nvPr userDrawn="1"/>
        </p:nvSpPr>
        <p:spPr bwMode="auto">
          <a:xfrm>
            <a:off x="0" y="0"/>
            <a:ext cx="5058633" cy="5144400"/>
          </a:xfrm>
          <a:custGeom>
            <a:avLst/>
            <a:gdLst>
              <a:gd name="T0" fmla="*/ 1417 w 1417"/>
              <a:gd name="T1" fmla="*/ 0 h 1441"/>
              <a:gd name="T2" fmla="*/ 0 w 1417"/>
              <a:gd name="T3" fmla="*/ 0 h 1441"/>
              <a:gd name="T4" fmla="*/ 0 w 1417"/>
              <a:gd name="T5" fmla="*/ 1441 h 1441"/>
              <a:gd name="T6" fmla="*/ 598 w 1417"/>
              <a:gd name="T7" fmla="*/ 1441 h 1441"/>
              <a:gd name="T8" fmla="*/ 1417 w 1417"/>
              <a:gd name="T9" fmla="*/ 0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17" h="1441">
                <a:moveTo>
                  <a:pt x="1417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41"/>
                  <a:pt x="0" y="1441"/>
                  <a:pt x="0" y="1441"/>
                </a:cubicBezTo>
                <a:cubicBezTo>
                  <a:pt x="0" y="1441"/>
                  <a:pt x="599" y="1441"/>
                  <a:pt x="598" y="1441"/>
                </a:cubicBezTo>
                <a:cubicBezTo>
                  <a:pt x="1259" y="419"/>
                  <a:pt x="1417" y="0"/>
                  <a:pt x="1417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dist="50800" algn="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2627784" y="4086000"/>
            <a:ext cx="6192366" cy="888700"/>
          </a:xfrm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txBody>
          <a:bodyPr lIns="0" tIns="0" rIns="0" bIns="0" anchor="b" anchorCtr="0">
            <a:noAutofit/>
          </a:bodyPr>
          <a:lstStyle>
            <a:lvl1pPr marL="324000" indent="0">
              <a:buNone/>
              <a:defRPr sz="2000" b="1" cap="all" baseline="0">
                <a:solidFill>
                  <a:schemeClr val="accent1"/>
                </a:solidFill>
              </a:defRPr>
            </a:lvl1pPr>
            <a:lvl2pPr marL="0" indent="180975">
              <a:lnSpc>
                <a:spcPts val="1200"/>
              </a:lnSpc>
              <a:spcAft>
                <a:spcPts val="120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None/>
              <a:defRPr sz="10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SUBtitle</a:t>
            </a:r>
            <a:r>
              <a:rPr lang="en-US" dirty="0"/>
              <a:t> style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25"/>
          <p:cNvSpPr>
            <a:spLocks noGrp="1"/>
          </p:cNvSpPr>
          <p:nvPr>
            <p:ph type="body" sz="quarter" idx="13" hasCustomPrompt="1"/>
          </p:nvPr>
        </p:nvSpPr>
        <p:spPr>
          <a:xfrm>
            <a:off x="4140000" y="1248868"/>
            <a:ext cx="4680150" cy="2500084"/>
          </a:xfrm>
          <a:ln>
            <a:noFill/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txBody>
          <a:bodyPr lIns="0" tIns="0" rIns="0" bIns="0">
            <a:noAutofit/>
          </a:bodyPr>
          <a:lstStyle>
            <a:lvl1pPr marL="0" indent="522000">
              <a:lnSpc>
                <a:spcPts val="3500"/>
              </a:lnSpc>
              <a:buNone/>
              <a:defRPr sz="3200" b="1" i="1">
                <a:solidFill>
                  <a:schemeClr val="bg1"/>
                </a:solidFill>
              </a:defRPr>
            </a:lvl1pPr>
            <a:lvl2pPr marL="288000" indent="0">
              <a:lnSpc>
                <a:spcPts val="3500"/>
              </a:lnSpc>
              <a:buNone/>
              <a:defRPr sz="3200" b="1" i="1">
                <a:solidFill>
                  <a:schemeClr val="bg1"/>
                </a:solidFill>
              </a:defRPr>
            </a:lvl2pPr>
            <a:lvl3pPr marL="539750" indent="-539750">
              <a:lnSpc>
                <a:spcPts val="3500"/>
              </a:lnSpc>
              <a:buNone/>
              <a:defRPr sz="3200" b="1" i="1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here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9493AF-7F18-4B8F-AD06-104E93F453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375506"/>
            <a:ext cx="4114133" cy="1368152"/>
          </a:xfrm>
        </p:spPr>
        <p:txBody>
          <a:bodyPr anchor="b">
            <a:noAutofit/>
          </a:bodyPr>
          <a:lstStyle>
            <a:lvl1pPr algn="r" defTabSz="108000">
              <a:lnSpc>
                <a:spcPts val="3500"/>
              </a:lnSpc>
              <a:defRPr sz="3200" i="1"/>
            </a:lvl1pPr>
          </a:lstStyle>
          <a:p>
            <a:r>
              <a:rPr lang="en-US" dirty="0"/>
              <a:t>Add title, 2-3 lines			</a:t>
            </a:r>
            <a:endParaRPr lang="nl-NL" dirty="0"/>
          </a:p>
        </p:txBody>
      </p:sp>
      <p:pic>
        <p:nvPicPr>
          <p:cNvPr id="4" name="corpLogo">
            <a:extLst>
              <a:ext uri="{FF2B5EF4-FFF2-40B4-BE49-F238E27FC236}">
                <a16:creationId xmlns:a16="http://schemas.microsoft.com/office/drawing/2014/main" id="{7D231F0F-8F41-4C8C-AFD5-B5B6881434B1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0" y="4118401"/>
            <a:ext cx="19476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74121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nfopic">
            <a:extLst>
              <a:ext uri="{FF2B5EF4-FFF2-40B4-BE49-F238E27FC236}">
                <a16:creationId xmlns:a16="http://schemas.microsoft.com/office/drawing/2014/main" id="{2F536D2B-182E-4433-BADD-D1FB2B81EE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corpBackground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" y="0"/>
            <a:ext cx="9144000" cy="5146766"/>
          </a:xfrm>
          <a:prstGeom prst="rect">
            <a:avLst/>
          </a:prstGeom>
        </p:spPr>
      </p:pic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000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91408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0000" y="1476173"/>
            <a:ext cx="6930352" cy="407094"/>
          </a:xfrm>
        </p:spPr>
        <p:txBody>
          <a:bodyPr lIns="0" tIns="0" rIns="0" bIns="0" anchor="t" anchorCtr="0">
            <a:noAutofit/>
          </a:bodyPr>
          <a:lstStyle>
            <a:lvl1pPr>
              <a:lnSpc>
                <a:spcPts val="3400"/>
              </a:lnSpc>
              <a:defRPr sz="2800" b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0" y="1991328"/>
            <a:ext cx="4986136" cy="540310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ts val="2400"/>
              </a:lnSpc>
              <a:buNone/>
              <a:defRPr sz="1800" i="1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10000" y="2609244"/>
            <a:ext cx="2397464" cy="394554"/>
          </a:xfrm>
        </p:spPr>
        <p:txBody>
          <a:bodyPr lIns="0" r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5"/>
          <p:cNvSpPr>
            <a:spLocks noChangeArrowheads="1"/>
          </p:cNvSpPr>
          <p:nvPr userDrawn="1"/>
        </p:nvSpPr>
        <p:spPr bwMode="auto">
          <a:xfrm>
            <a:off x="1589" y="0"/>
            <a:ext cx="9140825" cy="5141118"/>
          </a:xfrm>
          <a:prstGeom prst="rect">
            <a:avLst/>
          </a:prstGeom>
          <a:noFill/>
          <a:ln w="0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" name="corpLogo">
            <a:extLst>
              <a:ext uri="{FF2B5EF4-FFF2-40B4-BE49-F238E27FC236}">
                <a16:creationId xmlns:a16="http://schemas.microsoft.com/office/drawing/2014/main" id="{9FD89BA5-5C55-4D6F-9319-087B8F7A7B05}"/>
              </a:ext>
            </a:extLst>
          </p:cNvPr>
          <p:cNvPicPr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00" y="324000"/>
            <a:ext cx="19476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17863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rpBackgroun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67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0" y="1476000"/>
            <a:ext cx="7138800" cy="407094"/>
          </a:xfrm>
        </p:spPr>
        <p:txBody>
          <a:bodyPr lIns="0" tIns="0" rIns="0" bIns="0" anchor="t" anchorCtr="0">
            <a:noAutofit/>
          </a:bodyPr>
          <a:lstStyle>
            <a:lvl1pPr>
              <a:lnSpc>
                <a:spcPts val="34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0" y="1990800"/>
            <a:ext cx="4986000" cy="540310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ts val="2400"/>
              </a:lnSpc>
              <a:buNone/>
              <a:defRPr sz="1800" i="1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10000" y="2610000"/>
            <a:ext cx="2397464" cy="394554"/>
          </a:xfrm>
        </p:spPr>
        <p:txBody>
          <a:bodyPr lIns="0" r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corpLogo">
            <a:extLst>
              <a:ext uri="{FF2B5EF4-FFF2-40B4-BE49-F238E27FC236}">
                <a16:creationId xmlns:a16="http://schemas.microsoft.com/office/drawing/2014/main" id="{A43ADE32-392F-4D5E-8140-8D1041875847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00" y="324000"/>
            <a:ext cx="19476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0937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351163"/>
            <a:ext cx="8171999" cy="410788"/>
          </a:xfrm>
        </p:spPr>
        <p:txBody>
          <a:bodyPr lIns="0" tIns="46800" rIns="0" bIns="46800" anchor="ctr" anchorCtr="0"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00" y="891412"/>
            <a:ext cx="8172566" cy="3780000"/>
          </a:xfrm>
        </p:spPr>
        <p:txBody>
          <a:bodyPr lIns="0" tIns="0" rIns="0" bIns="0">
            <a:norm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6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6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67160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351163"/>
            <a:ext cx="8171999" cy="410788"/>
          </a:xfrm>
        </p:spPr>
        <p:txBody>
          <a:bodyPr anchor="ctr" anchorCtr="0"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00" y="1220974"/>
            <a:ext cx="8172000" cy="345952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1pPr>
            <a:lvl2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3pPr>
            <a:lvl4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4pPr>
            <a:lvl5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15778"/>
            <a:ext cx="8172000" cy="32415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2480"/>
              </a:lnSpc>
              <a:buNone/>
              <a:defRPr sz="2400" i="1"/>
            </a:lvl1pPr>
          </a:lstStyle>
          <a:p>
            <a:pPr lvl="0"/>
            <a:r>
              <a:rPr lang="en-GB" dirty="0"/>
              <a:t>Second Line</a:t>
            </a:r>
          </a:p>
        </p:txBody>
      </p:sp>
    </p:spTree>
    <p:extLst>
      <p:ext uri="{BB962C8B-B14F-4D97-AF65-F5344CB8AC3E}">
        <p14:creationId xmlns:p14="http://schemas.microsoft.com/office/powerpoint/2010/main" val="371379428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351163"/>
            <a:ext cx="8171999" cy="410788"/>
          </a:xfrm>
        </p:spPr>
        <p:txBody>
          <a:bodyPr lIns="0" tIns="0" rIns="0" bIns="0" anchor="ctr" anchorCtr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891412"/>
            <a:ext cx="3960000" cy="3789089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1pPr>
            <a:lvl2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3pPr>
            <a:lvl4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4pPr>
            <a:lvl5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3"/>
          </p:nvPr>
        </p:nvSpPr>
        <p:spPr>
          <a:xfrm>
            <a:off x="4680000" y="891412"/>
            <a:ext cx="3960000" cy="3789089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1pPr>
            <a:lvl2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3pPr>
            <a:lvl4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4pPr>
            <a:lvl5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3155242"/>
      </p:ext>
    </p:extLst>
  </p:cSld>
  <p:clrMapOvr>
    <a:masterClrMapping/>
  </p:clrMapOvr>
  <p:transition spd="slow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4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351163"/>
            <a:ext cx="8171999" cy="410788"/>
          </a:xfrm>
        </p:spPr>
        <p:txBody>
          <a:bodyPr anchor="ctr" anchorCtr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468000" y="891412"/>
            <a:ext cx="3960000" cy="3780000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1pPr>
            <a:lvl2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3pPr>
            <a:lvl4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4pPr>
            <a:lvl5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6" name="infopic" descr="PPT How to change photo example 2018.jpg">
            <a:extLst>
              <a:ext uri="{FF2B5EF4-FFF2-40B4-BE49-F238E27FC236}">
                <a16:creationId xmlns:a16="http://schemas.microsoft.com/office/drawing/2014/main" id="{A21EB4B8-0E5E-470B-989D-8F500E54D7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56" t="17517" r="2751" b="1311"/>
          <a:stretch/>
        </p:blipFill>
        <p:spPr>
          <a:xfrm>
            <a:off x="4630423" y="891885"/>
            <a:ext cx="3974025" cy="378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62496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Un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351163"/>
            <a:ext cx="8171999" cy="410788"/>
          </a:xfrm>
        </p:spPr>
        <p:txBody>
          <a:bodyPr anchor="ctr" anchorCtr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891412"/>
            <a:ext cx="3240000" cy="3784278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1pPr>
            <a:lvl2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3pPr>
            <a:lvl4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4pPr>
            <a:lvl5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3964610" y="896957"/>
            <a:ext cx="4679950" cy="3778734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1pPr>
            <a:lvl2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3pPr>
            <a:lvl4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4pPr>
            <a:lvl5pPr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886320"/>
      </p:ext>
    </p:extLst>
  </p:cSld>
  <p:clrMapOvr>
    <a:masterClrMapping/>
  </p:clrMapOvr>
  <p:transition spd="slow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44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351163"/>
            <a:ext cx="8171999" cy="410788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Media Placeholder 4"/>
          <p:cNvSpPr>
            <a:spLocks noGrp="1"/>
          </p:cNvSpPr>
          <p:nvPr>
            <p:ph type="media" sz="quarter" idx="11"/>
          </p:nvPr>
        </p:nvSpPr>
        <p:spPr>
          <a:xfrm>
            <a:off x="468314" y="842162"/>
            <a:ext cx="8172000" cy="3828718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609422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nfopic">
            <a:extLst>
              <a:ext uri="{FF2B5EF4-FFF2-40B4-BE49-F238E27FC236}">
                <a16:creationId xmlns:a16="http://schemas.microsoft.com/office/drawing/2014/main" id="{23DC7FF4-2338-41CE-9914-D185CFB78C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corpBackground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" y="0"/>
            <a:ext cx="9144000" cy="5146766"/>
          </a:xfrm>
          <a:prstGeom prst="rect">
            <a:avLst/>
          </a:prstGeom>
        </p:spPr>
      </p:pic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000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91408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0" y="1408021"/>
            <a:ext cx="7128792" cy="407094"/>
          </a:xfrm>
        </p:spPr>
        <p:txBody>
          <a:bodyPr lIns="0" tIns="0" rIns="0" bIns="0" anchor="t" anchorCtr="0">
            <a:noAutofit/>
          </a:bodyPr>
          <a:lstStyle>
            <a:lvl1pPr>
              <a:lnSpc>
                <a:spcPts val="34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0" y="1923176"/>
            <a:ext cx="5204952" cy="540310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ts val="2400"/>
              </a:lnSpc>
              <a:buNone/>
              <a:defRPr sz="1800" i="1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10000" y="2609244"/>
            <a:ext cx="2397464" cy="394554"/>
          </a:xfrm>
        </p:spPr>
        <p:txBody>
          <a:bodyPr lIns="0" r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5"/>
          <p:cNvSpPr>
            <a:spLocks noChangeArrowheads="1"/>
          </p:cNvSpPr>
          <p:nvPr userDrawn="1"/>
        </p:nvSpPr>
        <p:spPr bwMode="auto">
          <a:xfrm>
            <a:off x="1589" y="0"/>
            <a:ext cx="9140825" cy="5141118"/>
          </a:xfrm>
          <a:prstGeom prst="rect">
            <a:avLst/>
          </a:prstGeom>
          <a:noFill/>
          <a:ln w="0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558434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buClr>
                <a:schemeClr val="bg2"/>
              </a:buCl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68000" y="896788"/>
            <a:ext cx="8171999" cy="2031325"/>
          </a:xfrm>
        </p:spPr>
        <p:txBody>
          <a:bodyPr wrap="square" lIns="0" tIns="0" rIns="0" bIns="0" anchor="ctr">
            <a:spAutoFit/>
          </a:bodyPr>
          <a:lstStyle>
            <a:lvl1pPr>
              <a:defRPr sz="2000"/>
            </a:lvl1pPr>
          </a:lstStyle>
          <a:p>
            <a:r>
              <a:rPr lang="en-GB" b="0" dirty="0"/>
              <a:t>We look forward to working with you. </a:t>
            </a:r>
            <a:br>
              <a:rPr lang="en-GB" b="0" dirty="0"/>
            </a:br>
            <a:br>
              <a:rPr lang="en-GB" b="0" dirty="0"/>
            </a:br>
            <a:r>
              <a:rPr lang="en-GB" b="0" dirty="0"/>
              <a:t>For more information visit our website</a:t>
            </a:r>
            <a:br>
              <a:rPr lang="en-GB" b="0" dirty="0"/>
            </a:br>
            <a:r>
              <a:rPr lang="en-GB" b="0" dirty="0"/>
              <a:t>royalhaskoningdhv.com</a:t>
            </a:r>
            <a:br>
              <a:rPr lang="en-GB" b="0" dirty="0"/>
            </a:br>
            <a:br>
              <a:rPr lang="en-GB" b="0" dirty="0"/>
            </a:br>
            <a:r>
              <a:rPr lang="en-GB" sz="2000" b="0" dirty="0"/>
              <a:t>Contact: marcom@rhdhv.com</a:t>
            </a:r>
            <a:br>
              <a:rPr lang="en-GB" dirty="0"/>
            </a:b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043608" y="2949967"/>
            <a:ext cx="3024336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GB" sz="1200" dirty="0">
                <a:solidFill>
                  <a:srgbClr val="00577E"/>
                </a:solidFill>
                <a:latin typeface="Arial"/>
                <a:cs typeface="Arial"/>
              </a:rPr>
              <a:t>linkedin.com/company/royal-</a:t>
            </a:r>
            <a:r>
              <a:rPr lang="en-GB" sz="1200" dirty="0" err="1">
                <a:solidFill>
                  <a:srgbClr val="00577E"/>
                </a:solidFill>
                <a:latin typeface="Arial"/>
                <a:cs typeface="Arial"/>
              </a:rPr>
              <a:t>haskoningdhv</a:t>
            </a:r>
            <a:endParaRPr lang="en-GB" sz="1200" dirty="0">
              <a:solidFill>
                <a:srgbClr val="00577E"/>
              </a:solidFill>
              <a:latin typeface="Arial"/>
              <a:cs typeface="Arial"/>
            </a:endParaRPr>
          </a:p>
          <a:p>
            <a:pPr>
              <a:lnSpc>
                <a:spcPct val="300000"/>
              </a:lnSpc>
            </a:pPr>
            <a:r>
              <a:rPr lang="en-GB" sz="1200" dirty="0">
                <a:solidFill>
                  <a:srgbClr val="00577E"/>
                </a:solidFill>
                <a:latin typeface="Arial"/>
                <a:cs typeface="Arial"/>
              </a:rPr>
              <a:t>@RHDHV</a:t>
            </a:r>
          </a:p>
          <a:p>
            <a:pPr>
              <a:lnSpc>
                <a:spcPct val="300000"/>
              </a:lnSpc>
            </a:pPr>
            <a:r>
              <a:rPr lang="en-GB" sz="1200" dirty="0">
                <a:solidFill>
                  <a:srgbClr val="00577E"/>
                </a:solidFill>
                <a:latin typeface="Arial"/>
                <a:cs typeface="Arial"/>
              </a:rPr>
              <a:t>facebook.com/</a:t>
            </a:r>
            <a:r>
              <a:rPr lang="en-GB" sz="1200" dirty="0" err="1">
                <a:solidFill>
                  <a:srgbClr val="00577E"/>
                </a:solidFill>
                <a:latin typeface="Arial"/>
                <a:cs typeface="Arial"/>
              </a:rPr>
              <a:t>RoyalHaskoningDHV</a:t>
            </a:r>
            <a:endParaRPr lang="en-US" sz="1200" dirty="0">
              <a:solidFill>
                <a:srgbClr val="00577E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8"/>
          <a:stretch/>
        </p:blipFill>
        <p:spPr>
          <a:xfrm>
            <a:off x="468314" y="3160463"/>
            <a:ext cx="321310" cy="139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310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68000" y="351163"/>
            <a:ext cx="8171999" cy="410788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2242005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259193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0"/>
          <a:stretch/>
        </p:blipFill>
        <p:spPr>
          <a:xfrm>
            <a:off x="2901" y="3812400"/>
            <a:ext cx="9138198" cy="1332000"/>
          </a:xfrm>
          <a:prstGeom prst="rect">
            <a:avLst/>
          </a:prstGeom>
        </p:spPr>
      </p:pic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8000" y="351163"/>
            <a:ext cx="8171999" cy="410788"/>
          </a:xfrm>
          <a:prstGeom prst="rect">
            <a:avLst/>
          </a:prstGeom>
        </p:spPr>
        <p:txBody>
          <a:bodyPr vert="horz" lIns="0" tIns="45720" rIns="0" bIns="4572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468000" y="4138649"/>
            <a:ext cx="8172566" cy="5943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FontTx/>
              <a:buNone/>
              <a:defRPr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467544" y="4831200"/>
            <a:ext cx="180000" cy="1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infopic" descr="PPT How to change photo example 2018.jpg">
            <a:extLst>
              <a:ext uri="{FF2B5EF4-FFF2-40B4-BE49-F238E27FC236}">
                <a16:creationId xmlns:a16="http://schemas.microsoft.com/office/drawing/2014/main" id="{CCB06180-E7A3-44E3-8D69-07F9795F89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81" b="8631"/>
          <a:stretch/>
        </p:blipFill>
        <p:spPr>
          <a:xfrm>
            <a:off x="12052" y="879562"/>
            <a:ext cx="9144000" cy="294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84192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creen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fopic">
            <a:extLst>
              <a:ext uri="{FF2B5EF4-FFF2-40B4-BE49-F238E27FC236}">
                <a16:creationId xmlns:a16="http://schemas.microsoft.com/office/drawing/2014/main" id="{6D96D862-1DBD-4BC6-8C4E-DE87DD44DEE0}"/>
              </a:ext>
            </a:extLst>
          </p:cNvPr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4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004000" y="356400"/>
            <a:ext cx="3600000" cy="1080000"/>
          </a:xfrm>
          <a:solidFill>
            <a:srgbClr val="FFFFFF">
              <a:alpha val="80000"/>
            </a:srgbClr>
          </a:solidFill>
        </p:spPr>
        <p:txBody>
          <a:bodyPr>
            <a:normAutofit/>
          </a:bodyPr>
          <a:lstStyle>
            <a:lvl1pPr marL="270000" indent="-270000">
              <a:buFont typeface="Arial" panose="020B0604020202020204" pitchFamily="34" charset="0"/>
              <a:buChar char="&gt;"/>
              <a:defRPr sz="1600" i="1" baseline="0"/>
            </a:lvl1pPr>
            <a:lvl2pPr marL="540000" indent="-270000">
              <a:buFont typeface="Arial" panose="020B0604020202020204" pitchFamily="34" charset="0"/>
              <a:buChar char="&gt;"/>
              <a:defRPr sz="1700"/>
            </a:lvl2pPr>
            <a:lvl3pPr marL="810000" indent="-270000">
              <a:buFont typeface="Arial" panose="020B0604020202020204" pitchFamily="34" charset="0"/>
              <a:buChar char="&gt;"/>
              <a:defRPr sz="1700"/>
            </a:lvl3pPr>
            <a:lvl4pPr marL="1080000" indent="-270000">
              <a:buFont typeface="Arial" panose="020B0604020202020204" pitchFamily="34" charset="0"/>
              <a:buChar char="&gt;"/>
              <a:defRPr sz="1700"/>
            </a:lvl4pPr>
            <a:lvl5pPr marL="1350000" indent="-270000">
              <a:buFont typeface="Arial" panose="020B0604020202020204" pitchFamily="34" charset="0"/>
              <a:buChar char="&gt;"/>
              <a:defRPr sz="1700"/>
            </a:lvl5pPr>
          </a:lstStyle>
          <a:p>
            <a:pPr lvl="0"/>
            <a:r>
              <a:rPr lang="en-US" dirty="0"/>
              <a:t>This is a picture and caption slide example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8423466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creen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fopic">
            <a:extLst>
              <a:ext uri="{FF2B5EF4-FFF2-40B4-BE49-F238E27FC236}">
                <a16:creationId xmlns:a16="http://schemas.microsoft.com/office/drawing/2014/main" id="{3860BC4B-D6CE-4A11-861A-AFD6311E762B}"/>
              </a:ext>
            </a:extLst>
          </p:cNvPr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4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004000" y="3707100"/>
            <a:ext cx="3600000" cy="1080000"/>
          </a:xfrm>
          <a:solidFill>
            <a:srgbClr val="FFFFFF">
              <a:alpha val="80000"/>
            </a:srgbClr>
          </a:solidFill>
        </p:spPr>
        <p:txBody>
          <a:bodyPr>
            <a:normAutofit/>
          </a:bodyPr>
          <a:lstStyle>
            <a:lvl1pPr marL="270000" indent="-270000">
              <a:buFont typeface="Arial" panose="020B0604020202020204" pitchFamily="34" charset="0"/>
              <a:buChar char="&gt;"/>
              <a:defRPr sz="1600" i="1" baseline="0"/>
            </a:lvl1pPr>
            <a:lvl2pPr marL="540000" indent="-270000">
              <a:buFont typeface="Arial" panose="020B0604020202020204" pitchFamily="34" charset="0"/>
              <a:buChar char="&gt;"/>
              <a:defRPr sz="1700"/>
            </a:lvl2pPr>
            <a:lvl3pPr marL="810000" indent="-270000">
              <a:buFont typeface="Arial" panose="020B0604020202020204" pitchFamily="34" charset="0"/>
              <a:buChar char="&gt;"/>
              <a:defRPr sz="1700"/>
            </a:lvl3pPr>
            <a:lvl4pPr marL="1080000" indent="-270000">
              <a:buFont typeface="Arial" panose="020B0604020202020204" pitchFamily="34" charset="0"/>
              <a:buChar char="&gt;"/>
              <a:defRPr sz="1700"/>
            </a:lvl4pPr>
            <a:lvl5pPr marL="1350000" indent="-270000">
              <a:buFont typeface="Arial" panose="020B0604020202020204" pitchFamily="34" charset="0"/>
              <a:buChar char="&gt;"/>
              <a:defRPr sz="1700"/>
            </a:lvl5pPr>
          </a:lstStyle>
          <a:p>
            <a:pPr lvl="0"/>
            <a:r>
              <a:rPr lang="en-US" dirty="0"/>
              <a:t>This is a picture and caption slide example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685686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creen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fopic">
            <a:extLst>
              <a:ext uri="{FF2B5EF4-FFF2-40B4-BE49-F238E27FC236}">
                <a16:creationId xmlns:a16="http://schemas.microsoft.com/office/drawing/2014/main" id="{870D11D0-39F8-4B82-833A-D92A006D101E}"/>
              </a:ext>
            </a:extLst>
          </p:cNvPr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4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36593" y="3707100"/>
            <a:ext cx="3600000" cy="1080000"/>
          </a:xfrm>
          <a:solidFill>
            <a:srgbClr val="FFFFFF">
              <a:alpha val="80000"/>
            </a:srgbClr>
          </a:solidFill>
        </p:spPr>
        <p:txBody>
          <a:bodyPr>
            <a:normAutofit/>
          </a:bodyPr>
          <a:lstStyle>
            <a:lvl1pPr marL="270000" indent="-270000">
              <a:buFont typeface="Arial" panose="020B0604020202020204" pitchFamily="34" charset="0"/>
              <a:buChar char="&gt;"/>
              <a:defRPr sz="1600" i="1" baseline="0"/>
            </a:lvl1pPr>
            <a:lvl2pPr marL="540000" indent="-270000">
              <a:buFont typeface="Arial" panose="020B0604020202020204" pitchFamily="34" charset="0"/>
              <a:buChar char="&gt;"/>
              <a:defRPr sz="1700"/>
            </a:lvl2pPr>
            <a:lvl3pPr marL="810000" indent="-270000">
              <a:buFont typeface="Arial" panose="020B0604020202020204" pitchFamily="34" charset="0"/>
              <a:buChar char="&gt;"/>
              <a:defRPr sz="1700"/>
            </a:lvl3pPr>
            <a:lvl4pPr marL="1080000" indent="-270000">
              <a:buFont typeface="Arial" panose="020B0604020202020204" pitchFamily="34" charset="0"/>
              <a:buChar char="&gt;"/>
              <a:defRPr sz="1700"/>
            </a:lvl4pPr>
            <a:lvl5pPr marL="1350000" indent="-270000">
              <a:buFont typeface="Arial" panose="020B0604020202020204" pitchFamily="34" charset="0"/>
              <a:buChar char="&gt;"/>
              <a:defRPr sz="1700"/>
            </a:lvl5pPr>
          </a:lstStyle>
          <a:p>
            <a:pPr lvl="0"/>
            <a:r>
              <a:rPr lang="en-US" dirty="0"/>
              <a:t>This is a picture and caption slide example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3409479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creen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fopic">
            <a:extLst>
              <a:ext uri="{FF2B5EF4-FFF2-40B4-BE49-F238E27FC236}">
                <a16:creationId xmlns:a16="http://schemas.microsoft.com/office/drawing/2014/main" id="{9DC9BAA7-4F74-4650-83AB-F5F5B415F731}"/>
              </a:ext>
            </a:extLst>
          </p:cNvPr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4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36593" y="356400"/>
            <a:ext cx="3600000" cy="1080000"/>
          </a:xfrm>
          <a:solidFill>
            <a:srgbClr val="FFFFFF">
              <a:alpha val="80000"/>
            </a:srgbClr>
          </a:solidFill>
        </p:spPr>
        <p:txBody>
          <a:bodyPr>
            <a:normAutofit/>
          </a:bodyPr>
          <a:lstStyle>
            <a:lvl1pPr marL="270000" indent="-270000">
              <a:buFont typeface="Arial" panose="020B0604020202020204" pitchFamily="34" charset="0"/>
              <a:buChar char="&gt;"/>
              <a:defRPr sz="1600" i="1" baseline="0"/>
            </a:lvl1pPr>
            <a:lvl2pPr marL="540000" indent="-270000">
              <a:buFont typeface="Arial" panose="020B0604020202020204" pitchFamily="34" charset="0"/>
              <a:buChar char="&gt;"/>
              <a:defRPr sz="1700"/>
            </a:lvl2pPr>
            <a:lvl3pPr marL="810000" indent="-270000">
              <a:buFont typeface="Arial" panose="020B0604020202020204" pitchFamily="34" charset="0"/>
              <a:buChar char="&gt;"/>
              <a:defRPr sz="1700"/>
            </a:lvl3pPr>
            <a:lvl4pPr marL="1080000" indent="-270000">
              <a:buFont typeface="Arial" panose="020B0604020202020204" pitchFamily="34" charset="0"/>
              <a:buChar char="&gt;"/>
              <a:defRPr sz="1700"/>
            </a:lvl4pPr>
            <a:lvl5pPr marL="1350000" indent="-270000">
              <a:buFont typeface="Arial" panose="020B0604020202020204" pitchFamily="34" charset="0"/>
              <a:buChar char="&gt;"/>
              <a:defRPr sz="1700"/>
            </a:lvl5pPr>
          </a:lstStyle>
          <a:p>
            <a:pPr lvl="0"/>
            <a:r>
              <a:rPr lang="en-US" dirty="0"/>
              <a:t>This is a picture and caption slide example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648238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999" y="351163"/>
            <a:ext cx="8172000" cy="410788"/>
          </a:xfrm>
          <a:prstGeom prst="rect">
            <a:avLst/>
          </a:prstGeom>
        </p:spPr>
        <p:txBody>
          <a:bodyPr vert="horz" lIns="0" tIns="45720" rIns="0" bIns="4572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891412"/>
            <a:ext cx="8172566" cy="37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7544" y="4831200"/>
            <a:ext cx="180000" cy="135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31F7836-E4B3-4985-A8BA-D04AF4A8C90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Footer"/>
          <p:cNvSpPr txBox="1"/>
          <p:nvPr/>
        </p:nvSpPr>
        <p:spPr>
          <a:xfrm>
            <a:off x="720000" y="4831200"/>
            <a:ext cx="4320000" cy="135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900">
                <a:solidFill>
                  <a:srgbClr val="00577E"/>
                </a:solidFill>
                <a:latin typeface="Arial" pitchFamily="34" charset="0"/>
                <a:cs typeface="Arial" pitchFamily="34" charset="0"/>
              </a:rPr>
              <a:t>9 februari 2023</a:t>
            </a:r>
            <a:endParaRPr lang="en-GB" sz="900" dirty="0">
              <a:solidFill>
                <a:srgbClr val="00577E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" y="0"/>
            <a:ext cx="9143686" cy="182874"/>
          </a:xfrm>
          <a:prstGeom prst="rect">
            <a:avLst/>
          </a:prstGeom>
        </p:spPr>
      </p:pic>
      <p:pic>
        <p:nvPicPr>
          <p:cNvPr id="8" name="Logo">
            <a:extLst>
              <a:ext uri="{FF2B5EF4-FFF2-40B4-BE49-F238E27FC236}">
                <a16:creationId xmlns:a16="http://schemas.microsoft.com/office/drawing/2014/main" id="{0EE84E57-014C-40C0-AA34-26B4874EA2A7}"/>
              </a:ext>
            </a:extLst>
          </p:cNvPr>
          <p:cNvPicPr>
            <a:picLocks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401" y="4842001"/>
            <a:ext cx="1389600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68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665" r:id="rId2"/>
    <p:sldLayoutId id="2147483698" r:id="rId3"/>
    <p:sldLayoutId id="2147483650" r:id="rId4"/>
    <p:sldLayoutId id="2147483674" r:id="rId5"/>
    <p:sldLayoutId id="2147483672" r:id="rId6"/>
    <p:sldLayoutId id="2147483697" r:id="rId7"/>
    <p:sldLayoutId id="2147483664" r:id="rId8"/>
    <p:sldLayoutId id="2147483712" r:id="rId9"/>
    <p:sldLayoutId id="2147483724" r:id="rId10"/>
    <p:sldLayoutId id="2147483717" r:id="rId11"/>
    <p:sldLayoutId id="2147483713" r:id="rId12"/>
    <p:sldLayoutId id="2147483714" r:id="rId13"/>
    <p:sldLayoutId id="2147483715" r:id="rId14"/>
    <p:sldLayoutId id="2147483720" r:id="rId15"/>
    <p:sldLayoutId id="2147483722" r:id="rId16"/>
    <p:sldLayoutId id="2147483723" r:id="rId17"/>
    <p:sldLayoutId id="2147483721" r:id="rId18"/>
  </p:sldLayoutIdLst>
  <p:transition spd="slow"/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00577E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70000" indent="-270000" algn="l" defTabSz="914400" rtl="0" eaLnBrk="1" latinLnBrk="0" hangingPunct="1">
        <a:spcBef>
          <a:spcPts val="0"/>
        </a:spcBef>
        <a:buClr>
          <a:schemeClr val="bg2"/>
        </a:buClr>
        <a:buSzPct val="80000"/>
        <a:buFont typeface="Wingdings" pitchFamily="2" charset="2"/>
        <a:buChar char="n"/>
        <a:defRPr sz="1400" kern="1200">
          <a:solidFill>
            <a:srgbClr val="00577E"/>
          </a:solidFill>
          <a:latin typeface="Arial" pitchFamily="34" charset="0"/>
          <a:ea typeface="+mn-ea"/>
          <a:cs typeface="Arial" pitchFamily="34" charset="0"/>
        </a:defRPr>
      </a:lvl1pPr>
      <a:lvl2pPr marL="540000" indent="-270000" algn="l" defTabSz="914400" rtl="0" eaLnBrk="1" latinLnBrk="0" hangingPunct="1">
        <a:spcBef>
          <a:spcPts val="0"/>
        </a:spcBef>
        <a:buClr>
          <a:schemeClr val="bg2"/>
        </a:buClr>
        <a:buSzPct val="70000"/>
        <a:buFont typeface="Wingdings" pitchFamily="2" charset="2"/>
        <a:buChar char="n"/>
        <a:defRPr sz="1400" kern="1200">
          <a:solidFill>
            <a:srgbClr val="00577E"/>
          </a:solidFill>
          <a:latin typeface="Arial" pitchFamily="34" charset="0"/>
          <a:ea typeface="+mn-ea"/>
          <a:cs typeface="Arial" pitchFamily="34" charset="0"/>
        </a:defRPr>
      </a:lvl2pPr>
      <a:lvl3pPr marL="810000" indent="-270000" algn="l" defTabSz="914400" rtl="0" eaLnBrk="1" latinLnBrk="0" hangingPunct="1">
        <a:spcBef>
          <a:spcPts val="0"/>
        </a:spcBef>
        <a:buClr>
          <a:schemeClr val="bg2"/>
        </a:buClr>
        <a:buSzPct val="70000"/>
        <a:buFont typeface="Wingdings" pitchFamily="2" charset="2"/>
        <a:buChar char=""/>
        <a:defRPr sz="1400" kern="1200">
          <a:solidFill>
            <a:srgbClr val="00577E"/>
          </a:solidFill>
          <a:latin typeface="Arial" pitchFamily="34" charset="0"/>
          <a:ea typeface="+mn-ea"/>
          <a:cs typeface="Arial" pitchFamily="34" charset="0"/>
        </a:defRPr>
      </a:lvl3pPr>
      <a:lvl4pPr marL="1080000" indent="-270000" algn="l" defTabSz="914400" rtl="0" eaLnBrk="1" latinLnBrk="0" hangingPunct="1">
        <a:spcBef>
          <a:spcPts val="0"/>
        </a:spcBef>
        <a:buClr>
          <a:schemeClr val="bg2"/>
        </a:buClr>
        <a:buSzPct val="70000"/>
        <a:buFont typeface="Wingdings" pitchFamily="2" charset="2"/>
        <a:buChar char=""/>
        <a:defRPr sz="1400" kern="1200">
          <a:solidFill>
            <a:srgbClr val="00577E"/>
          </a:solidFill>
          <a:latin typeface="Arial" pitchFamily="34" charset="0"/>
          <a:ea typeface="+mn-ea"/>
          <a:cs typeface="Arial" pitchFamily="34" charset="0"/>
        </a:defRPr>
      </a:lvl4pPr>
      <a:lvl5pPr marL="1350000" indent="-270000" algn="l" defTabSz="914400" rtl="0" eaLnBrk="1" latinLnBrk="0" hangingPunct="1">
        <a:spcBef>
          <a:spcPts val="0"/>
        </a:spcBef>
        <a:buClr>
          <a:schemeClr val="bg2"/>
        </a:buClr>
        <a:buSzPct val="70000"/>
        <a:buFont typeface="Wingdings" pitchFamily="2" charset="2"/>
        <a:buChar char=""/>
        <a:defRPr sz="1400" kern="1200">
          <a:solidFill>
            <a:srgbClr val="00577E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54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tWaterschapshuis/HyDAMOValidatieModule/blob/main/docs/guides/contribute.md" TargetMode="External"/><Relationship Id="rId2" Type="http://schemas.openxmlformats.org/officeDocument/2006/relationships/hyperlink" Target="https://github.com/HetWaterschapshuis/HyDAMOValidatieregels/blob/main/docs/guides/edit_rules.md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AE48-CCB3-4CF2-9749-FBDDCF3E03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Validatietool en modelgeneratie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43420-0033-42D3-B7A7-2DA54CC4C3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A3FF9-FF61-43EB-9E5A-57604DFA8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000" y="2610000"/>
            <a:ext cx="2921000" cy="394554"/>
          </a:xfrm>
        </p:spPr>
        <p:txBody>
          <a:bodyPr/>
          <a:lstStyle/>
          <a:p>
            <a:r>
              <a:rPr lang="nl-NL" dirty="0"/>
              <a:t>BZ1178-RHD-ZZ-XX-PP-Z-0001</a:t>
            </a:r>
          </a:p>
          <a:p>
            <a:r>
              <a:rPr lang="nl-NL" b="1" dirty="0"/>
              <a:t>Open</a:t>
            </a:r>
          </a:p>
          <a:p>
            <a:r>
              <a:rPr lang="nl-NL" dirty="0"/>
              <a:t>Emiel Verstegen</a:t>
            </a:r>
          </a:p>
          <a:p>
            <a:r>
              <a:rPr lang="nl-NL" dirty="0"/>
              <a:t>9 februari 2023</a:t>
            </a:r>
          </a:p>
        </p:txBody>
      </p:sp>
    </p:spTree>
    <p:extLst>
      <p:ext uri="{BB962C8B-B14F-4D97-AF65-F5344CB8AC3E}">
        <p14:creationId xmlns:p14="http://schemas.microsoft.com/office/powerpoint/2010/main" val="234946929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DEBC-00AB-4FAF-A731-F38E5B15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D0EEA-5978-4F54-8219-56BFAAB3F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Automatisch</a:t>
            </a:r>
            <a:r>
              <a:rPr lang="en-US" dirty="0"/>
              <a:t> </a:t>
            </a:r>
            <a:r>
              <a:rPr lang="en-US" dirty="0" err="1"/>
              <a:t>opbouwen</a:t>
            </a:r>
            <a:r>
              <a:rPr lang="en-US" dirty="0"/>
              <a:t> 1D2D D-Hydro model van de </a:t>
            </a:r>
            <a:r>
              <a:rPr lang="en-US" dirty="0" err="1"/>
              <a:t>Geul</a:t>
            </a:r>
            <a:endParaRPr lang="en-US" dirty="0"/>
          </a:p>
          <a:p>
            <a:r>
              <a:rPr lang="en-US" dirty="0" err="1"/>
              <a:t>Persoonlijk</a:t>
            </a:r>
            <a:r>
              <a:rPr lang="en-US" dirty="0"/>
              <a:t> </a:t>
            </a:r>
            <a:r>
              <a:rPr lang="en-US" dirty="0" err="1"/>
              <a:t>eerste</a:t>
            </a:r>
            <a:r>
              <a:rPr lang="en-US" dirty="0"/>
              <a:t> </a:t>
            </a:r>
            <a:r>
              <a:rPr lang="en-US" dirty="0" err="1"/>
              <a:t>toepassing</a:t>
            </a:r>
            <a:r>
              <a:rPr lang="en-US" dirty="0"/>
              <a:t> van </a:t>
            </a:r>
            <a:r>
              <a:rPr lang="en-US" dirty="0" err="1"/>
              <a:t>Validatietoolbox</a:t>
            </a:r>
            <a:endParaRPr lang="en-US" dirty="0"/>
          </a:p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F6286-DC66-44EC-9046-E55979AC4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B1D771-C0EA-43F0-A138-1D0ECE71C946}"/>
              </a:ext>
            </a:extLst>
          </p:cNvPr>
          <p:cNvSpPr/>
          <p:nvPr/>
        </p:nvSpPr>
        <p:spPr>
          <a:xfrm>
            <a:off x="503434" y="1986002"/>
            <a:ext cx="1143000" cy="533400"/>
          </a:xfrm>
          <a:prstGeom prst="rect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HyDAMO</a:t>
            </a:r>
            <a:endParaRPr lang="nl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2C32A-9341-4482-A4E9-EA40B17955BA}"/>
              </a:ext>
            </a:extLst>
          </p:cNvPr>
          <p:cNvSpPr/>
          <p:nvPr/>
        </p:nvSpPr>
        <p:spPr>
          <a:xfrm>
            <a:off x="838200" y="3383625"/>
            <a:ext cx="457200" cy="228600"/>
          </a:xfrm>
          <a:prstGeom prst="rect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Data</a:t>
            </a:r>
            <a:endParaRPr lang="nl-NL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FA08E-F1D3-434C-B0C9-7F23D44F7F1D}"/>
              </a:ext>
            </a:extLst>
          </p:cNvPr>
          <p:cNvSpPr/>
          <p:nvPr/>
        </p:nvSpPr>
        <p:spPr>
          <a:xfrm>
            <a:off x="990600" y="3536025"/>
            <a:ext cx="457200" cy="228600"/>
          </a:xfrm>
          <a:prstGeom prst="rect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Data</a:t>
            </a:r>
            <a:endParaRPr lang="nl-NL" sz="10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CD398F-29FD-4BBC-B6EB-4E2B8B771EC1}"/>
              </a:ext>
            </a:extLst>
          </p:cNvPr>
          <p:cNvSpPr/>
          <p:nvPr/>
        </p:nvSpPr>
        <p:spPr>
          <a:xfrm>
            <a:off x="1143000" y="3688425"/>
            <a:ext cx="457200" cy="228600"/>
          </a:xfrm>
          <a:prstGeom prst="rect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Data</a:t>
            </a:r>
            <a:endParaRPr lang="nl-NL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04516-CA0E-4B9F-8FF1-808C30342DAF}"/>
              </a:ext>
            </a:extLst>
          </p:cNvPr>
          <p:cNvSpPr/>
          <p:nvPr/>
        </p:nvSpPr>
        <p:spPr>
          <a:xfrm>
            <a:off x="1295400" y="3840825"/>
            <a:ext cx="457200" cy="228600"/>
          </a:xfrm>
          <a:prstGeom prst="rect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Data</a:t>
            </a:r>
            <a:endParaRPr lang="nl-NL" sz="1050" dirty="0"/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8BAF2C48-5AE4-4803-B33D-EAF0FBF391BA}"/>
              </a:ext>
            </a:extLst>
          </p:cNvPr>
          <p:cNvSpPr/>
          <p:nvPr/>
        </p:nvSpPr>
        <p:spPr>
          <a:xfrm>
            <a:off x="4286250" y="2042241"/>
            <a:ext cx="2286000" cy="1081961"/>
          </a:xfrm>
          <a:prstGeom prst="cloud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Scripts</a:t>
            </a:r>
            <a:endParaRPr lang="nl-NL" dirty="0"/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F755DA09-015B-458D-A5D3-CD3D42164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550" y="2057401"/>
            <a:ext cx="685800" cy="685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F1F3089-9D39-475A-8FF8-051DFBC25570}"/>
              </a:ext>
            </a:extLst>
          </p:cNvPr>
          <p:cNvSpPr/>
          <p:nvPr/>
        </p:nvSpPr>
        <p:spPr>
          <a:xfrm>
            <a:off x="7331700" y="2872662"/>
            <a:ext cx="1507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4759F"/>
                </a:solidFill>
              </a:rPr>
              <a:t>D-Hydro model</a:t>
            </a:r>
          </a:p>
          <a:p>
            <a:pPr algn="ctr"/>
            <a:r>
              <a:rPr lang="nl-NL" dirty="0">
                <a:solidFill>
                  <a:srgbClr val="04759F"/>
                </a:solidFill>
              </a:rPr>
              <a:t>1D2D-RR-RTC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D50F593-92BB-42BB-A0E1-5092D9A2B187}"/>
              </a:ext>
            </a:extLst>
          </p:cNvPr>
          <p:cNvSpPr/>
          <p:nvPr/>
        </p:nvSpPr>
        <p:spPr>
          <a:xfrm rot="16642024">
            <a:off x="2836792" y="1299969"/>
            <a:ext cx="153529" cy="2217517"/>
          </a:xfrm>
          <a:prstGeom prst="downArrow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CFDE619C-D8C0-4059-AFEC-16B4AE91C37C}"/>
              </a:ext>
            </a:extLst>
          </p:cNvPr>
          <p:cNvSpPr/>
          <p:nvPr/>
        </p:nvSpPr>
        <p:spPr>
          <a:xfrm rot="14940226">
            <a:off x="2900729" y="2093671"/>
            <a:ext cx="145804" cy="2355650"/>
          </a:xfrm>
          <a:prstGeom prst="downArrow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0AEFB51-BE6E-4ECA-A0ED-B34CD0799E0C}"/>
              </a:ext>
            </a:extLst>
          </p:cNvPr>
          <p:cNvSpPr/>
          <p:nvPr/>
        </p:nvSpPr>
        <p:spPr>
          <a:xfrm rot="16200000">
            <a:off x="7082475" y="2227788"/>
            <a:ext cx="149850" cy="643812"/>
          </a:xfrm>
          <a:prstGeom prst="downArrow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7E3C5F73-BB56-49E3-97C4-89EE237DDE12}"/>
              </a:ext>
            </a:extLst>
          </p:cNvPr>
          <p:cNvSpPr/>
          <p:nvPr/>
        </p:nvSpPr>
        <p:spPr>
          <a:xfrm>
            <a:off x="2342056" y="2121171"/>
            <a:ext cx="1142999" cy="564222"/>
          </a:xfrm>
          <a:prstGeom prst="cloud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Validatie</a:t>
            </a:r>
            <a:endParaRPr lang="en-US" sz="1050" dirty="0"/>
          </a:p>
          <a:p>
            <a:pPr algn="ctr"/>
            <a:r>
              <a:rPr lang="en-US" sz="1050" dirty="0"/>
              <a:t>toolbox</a:t>
            </a:r>
            <a:endParaRPr lang="nl-NL" sz="1050" dirty="0"/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787141D7-3851-4B7A-967B-352FBF3C8FC6}"/>
              </a:ext>
            </a:extLst>
          </p:cNvPr>
          <p:cNvSpPr/>
          <p:nvPr/>
        </p:nvSpPr>
        <p:spPr>
          <a:xfrm rot="447869" flipH="1">
            <a:off x="1276288" y="1602913"/>
            <a:ext cx="1765222" cy="367356"/>
          </a:xfrm>
          <a:prstGeom prst="curvedDownArrow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6395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749E-271E-4A1E-AC76-9E052AAC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E8892-EC52-4687-AD71-A251DB8787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Overeenkomst</a:t>
            </a:r>
            <a:r>
              <a:rPr lang="en-US" b="1" dirty="0"/>
              <a:t> met </a:t>
            </a:r>
            <a:r>
              <a:rPr lang="en-US" b="1" dirty="0" err="1"/>
              <a:t>waterschappen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Uniformering</a:t>
            </a:r>
            <a:r>
              <a:rPr lang="en-US" dirty="0"/>
              <a:t> van </a:t>
            </a:r>
            <a:r>
              <a:rPr lang="en-US" dirty="0" err="1"/>
              <a:t>validatieregels</a:t>
            </a:r>
            <a:endParaRPr lang="en-US" dirty="0"/>
          </a:p>
          <a:p>
            <a:r>
              <a:rPr lang="en-US" dirty="0" err="1"/>
              <a:t>Automatisering</a:t>
            </a:r>
            <a:r>
              <a:rPr lang="en-US" dirty="0"/>
              <a:t> van </a:t>
            </a:r>
            <a:r>
              <a:rPr lang="en-US" dirty="0" err="1"/>
              <a:t>validatie</a:t>
            </a:r>
            <a:r>
              <a:rPr lang="en-US" dirty="0"/>
              <a:t> </a:t>
            </a:r>
            <a:r>
              <a:rPr lang="en-US" dirty="0" err="1"/>
              <a:t>dmv</a:t>
            </a:r>
            <a:r>
              <a:rPr lang="en-US" dirty="0"/>
              <a:t> API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45D44-92C4-4555-AF9A-B18536C9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142479-CA84-44C6-8488-239F386416C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Verschil</a:t>
            </a:r>
            <a:r>
              <a:rPr lang="en-US" b="1" dirty="0"/>
              <a:t> </a:t>
            </a:r>
            <a:r>
              <a:rPr lang="en-US" b="1" dirty="0" err="1"/>
              <a:t>t.o.v</a:t>
            </a:r>
            <a:r>
              <a:rPr lang="en-US" b="1" dirty="0"/>
              <a:t>. </a:t>
            </a:r>
            <a:r>
              <a:rPr lang="en-US" b="1" dirty="0" err="1"/>
              <a:t>waterschappen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Het is </a:t>
            </a:r>
            <a:r>
              <a:rPr lang="en-US" dirty="0" err="1"/>
              <a:t>niet</a:t>
            </a:r>
            <a:r>
              <a:rPr lang="en-US" dirty="0"/>
              <a:t> ‘</a:t>
            </a:r>
            <a:r>
              <a:rPr lang="en-US" dirty="0" err="1"/>
              <a:t>onze</a:t>
            </a:r>
            <a:r>
              <a:rPr lang="en-US" dirty="0"/>
              <a:t>’ data: </a:t>
            </a:r>
            <a:r>
              <a:rPr lang="en-US" dirty="0" err="1"/>
              <a:t>snel</a:t>
            </a:r>
            <a:r>
              <a:rPr lang="en-US" dirty="0"/>
              <a:t>, </a:t>
            </a:r>
            <a:r>
              <a:rPr lang="en-US" dirty="0" err="1"/>
              <a:t>globaal</a:t>
            </a:r>
            <a:r>
              <a:rPr lang="en-US" dirty="0"/>
              <a:t> </a:t>
            </a:r>
            <a:r>
              <a:rPr lang="en-US" dirty="0" err="1"/>
              <a:t>inzicht</a:t>
            </a:r>
            <a:r>
              <a:rPr lang="en-US" dirty="0"/>
              <a:t> in </a:t>
            </a:r>
            <a:r>
              <a:rPr lang="en-US" dirty="0" err="1"/>
              <a:t>datakwaliteit</a:t>
            </a:r>
            <a:endParaRPr lang="en-US" dirty="0"/>
          </a:p>
          <a:p>
            <a:r>
              <a:rPr lang="en-US" dirty="0"/>
              <a:t>E</a:t>
            </a:r>
            <a:r>
              <a:rPr lang="nl-NL" dirty="0"/>
              <a:t>én</a:t>
            </a:r>
            <a:r>
              <a:rPr lang="en-US" dirty="0"/>
              <a:t> </a:t>
            </a:r>
            <a:r>
              <a:rPr lang="en-US" dirty="0" err="1"/>
              <a:t>specifiek</a:t>
            </a:r>
            <a:r>
              <a:rPr lang="en-US" dirty="0"/>
              <a:t> </a:t>
            </a:r>
            <a:r>
              <a:rPr lang="en-US" dirty="0" err="1"/>
              <a:t>doel</a:t>
            </a:r>
            <a:r>
              <a:rPr lang="en-US" dirty="0"/>
              <a:t>: </a:t>
            </a:r>
            <a:r>
              <a:rPr lang="en-US" dirty="0" err="1"/>
              <a:t>modelleren</a:t>
            </a:r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307667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F332-0642-4E4E-8315-C31E435F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Eerste</a:t>
            </a:r>
            <a:r>
              <a:rPr lang="en-US" dirty="0"/>
              <a:t> </a:t>
            </a:r>
            <a:r>
              <a:rPr lang="en-US" dirty="0" err="1"/>
              <a:t>resultaten</a:t>
            </a:r>
            <a:r>
              <a:rPr lang="en-US" dirty="0"/>
              <a:t> - </a:t>
            </a:r>
            <a:r>
              <a:rPr lang="en-US" dirty="0" err="1"/>
              <a:t>HydroObjecten</a:t>
            </a:r>
            <a:endParaRPr lang="nl-NL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ADF420-04B9-4687-AFBB-C4EC14047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18697" y="892175"/>
            <a:ext cx="5071681" cy="3779838"/>
          </a:xfr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0C07E-62FE-4D78-9672-F4A22C6E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8967641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F332-0642-4E4E-8315-C31E435F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Eerste</a:t>
            </a:r>
            <a:r>
              <a:rPr lang="en-US" dirty="0"/>
              <a:t> </a:t>
            </a:r>
            <a:r>
              <a:rPr lang="en-US" dirty="0" err="1"/>
              <a:t>resultaten</a:t>
            </a:r>
            <a:r>
              <a:rPr lang="en-US" dirty="0"/>
              <a:t> - </a:t>
            </a:r>
            <a:r>
              <a:rPr lang="en-US" dirty="0" err="1"/>
              <a:t>HydroObjecten</a:t>
            </a:r>
            <a:endParaRPr lang="nl-NL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ADF420-04B9-4687-AFBB-C4EC14047B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68313" y="1310691"/>
            <a:ext cx="3959225" cy="2950743"/>
          </a:xfr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0C07E-62FE-4D78-9672-F4A22C6E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D48A-5DE0-4171-A613-75C190B1A66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 err="1"/>
              <a:t>Veelvoorkomende</a:t>
            </a:r>
            <a:r>
              <a:rPr lang="en-US" dirty="0"/>
              <a:t> </a:t>
            </a:r>
            <a:r>
              <a:rPr lang="en-US" dirty="0" err="1"/>
              <a:t>fouten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Verkeerde</a:t>
            </a:r>
            <a:r>
              <a:rPr lang="en-US" dirty="0"/>
              <a:t> </a:t>
            </a:r>
            <a:r>
              <a:rPr lang="en-US" dirty="0" err="1"/>
              <a:t>tekenrichting</a:t>
            </a:r>
            <a:r>
              <a:rPr lang="en-US" dirty="0"/>
              <a:t> </a:t>
            </a:r>
            <a:r>
              <a:rPr lang="en-US" dirty="0" err="1"/>
              <a:t>resulteert</a:t>
            </a:r>
            <a:r>
              <a:rPr lang="en-US" dirty="0"/>
              <a:t> in ‘</a:t>
            </a:r>
            <a:r>
              <a:rPr lang="en-US" dirty="0" err="1"/>
              <a:t>eindpunt</a:t>
            </a:r>
            <a:r>
              <a:rPr lang="en-US" dirty="0"/>
              <a:t>’</a:t>
            </a:r>
          </a:p>
          <a:p>
            <a:pPr lvl="1"/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opsplitsing</a:t>
            </a:r>
            <a:r>
              <a:rPr lang="en-US" dirty="0"/>
              <a:t> op </a:t>
            </a:r>
            <a:r>
              <a:rPr lang="en-US" dirty="0" err="1"/>
              <a:t>stuw</a:t>
            </a:r>
            <a:r>
              <a:rPr lang="en-US" dirty="0"/>
              <a:t>, </a:t>
            </a:r>
            <a:r>
              <a:rPr lang="en-US" dirty="0" err="1"/>
              <a:t>bodemval</a:t>
            </a:r>
            <a:r>
              <a:rPr lang="en-US" dirty="0"/>
              <a:t>, </a:t>
            </a:r>
            <a:r>
              <a:rPr lang="en-US" dirty="0" err="1"/>
              <a:t>gemaal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006803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2FC0-9048-405E-83D4-ECF22717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Afvoerroute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FC287-5A1F-46F0-8496-B3AB224D50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HydroObject</a:t>
            </a:r>
            <a:r>
              <a:rPr lang="en-US" dirty="0"/>
              <a:t> ‘</a:t>
            </a:r>
            <a:r>
              <a:rPr lang="en-US" dirty="0" err="1"/>
              <a:t>eindpunt</a:t>
            </a:r>
            <a:r>
              <a:rPr lang="en-US" dirty="0"/>
              <a:t>’ is </a:t>
            </a:r>
            <a:r>
              <a:rPr lang="en-US" dirty="0" err="1"/>
              <a:t>indicatie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netwerkfouten</a:t>
            </a:r>
            <a:endParaRPr lang="en-US" dirty="0"/>
          </a:p>
          <a:p>
            <a:r>
              <a:rPr lang="nl-NL" dirty="0"/>
              <a:t>Geschikt voor vrij afwaterend gebied</a:t>
            </a:r>
          </a:p>
          <a:p>
            <a:r>
              <a:rPr lang="nl-NL" dirty="0"/>
              <a:t>In polder (zie afbeeldingen rechts):</a:t>
            </a:r>
          </a:p>
          <a:p>
            <a:pPr lvl="1"/>
            <a:r>
              <a:rPr lang="nl-NL" dirty="0"/>
              <a:t>Geen duidelijke stromingsrichting of </a:t>
            </a:r>
            <a:r>
              <a:rPr lang="nl-NL" dirty="0" err="1"/>
              <a:t>opmalingen</a:t>
            </a:r>
            <a:endParaRPr lang="nl-NL" dirty="0"/>
          </a:p>
          <a:p>
            <a:pPr lvl="1"/>
            <a:r>
              <a:rPr lang="nl-NL" dirty="0"/>
              <a:t>Circulaire systemen</a:t>
            </a:r>
          </a:p>
          <a:p>
            <a:pPr lvl="1"/>
            <a:endParaRPr lang="nl-NL" dirty="0"/>
          </a:p>
          <a:p>
            <a:r>
              <a:rPr lang="nl-NL" dirty="0"/>
              <a:t>Een netwerkanalyse is nodig voor het correct opsporen van netwerkfouten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9D889-1275-4DC8-94B9-84EEF9F5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20E48F4-EA4E-4C79-BEE3-649A4589D6BA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 rotWithShape="1">
          <a:blip r:embed="rId3"/>
          <a:srcRect t="5854" b="8661"/>
          <a:stretch/>
        </p:blipFill>
        <p:spPr>
          <a:xfrm>
            <a:off x="5943600" y="351162"/>
            <a:ext cx="3025462" cy="2068188"/>
          </a:xfr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EA33D1-2C5D-43A6-BDEF-124C5B1DF7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390" r="6811" b="4289"/>
          <a:stretch/>
        </p:blipFill>
        <p:spPr>
          <a:xfrm>
            <a:off x="5943600" y="2630479"/>
            <a:ext cx="3025462" cy="23357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2086927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245E-336B-4542-8558-37C0E21E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Extra checks - </a:t>
            </a:r>
            <a:r>
              <a:rPr lang="en-US" dirty="0" err="1"/>
              <a:t>HydroObject</a:t>
            </a:r>
            <a:endParaRPr lang="nl-N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0806E-589E-4F1D-8D48-0BBEFF263F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Extra </a:t>
            </a:r>
            <a:r>
              <a:rPr lang="en-US" dirty="0" err="1"/>
              <a:t>controles</a:t>
            </a:r>
            <a:r>
              <a:rPr lang="en-US" dirty="0"/>
              <a:t> </a:t>
            </a:r>
            <a:r>
              <a:rPr lang="en-US" dirty="0" err="1"/>
              <a:t>uitgevoerd</a:t>
            </a:r>
            <a:r>
              <a:rPr lang="en-US" dirty="0"/>
              <a:t> op </a:t>
            </a:r>
            <a:r>
              <a:rPr lang="en-US" dirty="0" err="1"/>
              <a:t>geometrie</a:t>
            </a:r>
            <a:endParaRPr lang="en-US" dirty="0"/>
          </a:p>
          <a:p>
            <a:pPr lvl="1"/>
            <a:r>
              <a:rPr lang="en-US" dirty="0"/>
              <a:t>Duplicate </a:t>
            </a:r>
            <a:r>
              <a:rPr lang="nl-NL" dirty="0"/>
              <a:t>geometrie</a:t>
            </a:r>
          </a:p>
          <a:p>
            <a:pPr lvl="1"/>
            <a:r>
              <a:rPr lang="en-US" dirty="0" err="1"/>
              <a:t>Overlappende</a:t>
            </a:r>
            <a:r>
              <a:rPr lang="en-US" dirty="0"/>
              <a:t> </a:t>
            </a:r>
            <a:r>
              <a:rPr lang="en-US" dirty="0" err="1"/>
              <a:t>geometrie</a:t>
            </a:r>
            <a:endParaRPr lang="en-US" dirty="0"/>
          </a:p>
          <a:p>
            <a:endParaRPr lang="en-US" dirty="0"/>
          </a:p>
          <a:p>
            <a:r>
              <a:rPr lang="en-US" dirty="0"/>
              <a:t>Extra </a:t>
            </a:r>
            <a:r>
              <a:rPr lang="en-US" dirty="0" err="1"/>
              <a:t>controle</a:t>
            </a:r>
            <a:r>
              <a:rPr lang="en-US" dirty="0"/>
              <a:t> met Python, </a:t>
            </a:r>
            <a:r>
              <a:rPr lang="en-US" dirty="0" err="1"/>
              <a:t>liever</a:t>
            </a:r>
            <a:r>
              <a:rPr lang="en-US" dirty="0"/>
              <a:t> </a:t>
            </a:r>
            <a:r>
              <a:rPr lang="en-US" dirty="0" err="1"/>
              <a:t>integreren</a:t>
            </a:r>
            <a:r>
              <a:rPr lang="en-US" dirty="0"/>
              <a:t> in </a:t>
            </a:r>
            <a:r>
              <a:rPr lang="en-US" dirty="0" err="1"/>
              <a:t>Validatietoolbox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hergebruik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C79DF-3BBF-4E51-B076-7E385E35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753663-3199-41BE-892A-E02A07287EA8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tretch>
            <a:fillRect/>
          </a:stretch>
        </p:blipFill>
        <p:spPr>
          <a:xfrm>
            <a:off x="4679950" y="1201737"/>
            <a:ext cx="3960813" cy="3168650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0025328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9B05C-DCAB-4B62-AA75-CA2E108A4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Extra checks - </a:t>
            </a:r>
            <a:r>
              <a:rPr lang="en-US" dirty="0" err="1"/>
              <a:t>HydroObject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4BBC5-FB94-43D3-B905-0B5E49FB4B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Interpolatie</a:t>
            </a:r>
            <a:r>
              <a:rPr lang="en-US" dirty="0"/>
              <a:t> </a:t>
            </a:r>
            <a:r>
              <a:rPr lang="en-US" dirty="0" err="1"/>
              <a:t>profielen</a:t>
            </a:r>
            <a:r>
              <a:rPr lang="en-US" dirty="0"/>
              <a:t> </a:t>
            </a:r>
            <a:r>
              <a:rPr lang="en-US" dirty="0" err="1"/>
              <a:t>watergang</a:t>
            </a:r>
            <a:endParaRPr lang="en-US" dirty="0"/>
          </a:p>
          <a:p>
            <a:r>
              <a:rPr lang="en-US" dirty="0"/>
              <a:t>Op </a:t>
            </a:r>
            <a:r>
              <a:rPr lang="en-US" dirty="0" err="1"/>
              <a:t>kruispunt</a:t>
            </a:r>
            <a:r>
              <a:rPr lang="en-US" dirty="0"/>
              <a:t> </a:t>
            </a:r>
            <a:r>
              <a:rPr lang="en-US" dirty="0" err="1"/>
              <a:t>mogen</a:t>
            </a:r>
            <a:r>
              <a:rPr lang="en-US" dirty="0"/>
              <a:t> maar 2 </a:t>
            </a:r>
            <a:r>
              <a:rPr lang="en-US" dirty="0" err="1"/>
              <a:t>HydroObjecten</a:t>
            </a:r>
            <a:r>
              <a:rPr lang="en-US" dirty="0"/>
              <a:t> met </a:t>
            </a:r>
            <a:r>
              <a:rPr lang="en-US" dirty="0" err="1"/>
              <a:t>dezelfde</a:t>
            </a:r>
            <a:r>
              <a:rPr lang="en-US" dirty="0"/>
              <a:t> ‘</a:t>
            </a:r>
            <a:r>
              <a:rPr lang="en-US" dirty="0" err="1"/>
              <a:t>watergang</a:t>
            </a:r>
            <a:r>
              <a:rPr lang="en-US" dirty="0"/>
              <a:t> id’ </a:t>
            </a:r>
            <a:r>
              <a:rPr lang="en-US" dirty="0" err="1"/>
              <a:t>samenkomen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Check </a:t>
            </a:r>
            <a:r>
              <a:rPr lang="en-US" dirty="0" err="1"/>
              <a:t>heeft</a:t>
            </a:r>
            <a:r>
              <a:rPr lang="en-US" dirty="0"/>
              <a:t> </a:t>
            </a:r>
            <a:r>
              <a:rPr lang="en-US" dirty="0" err="1"/>
              <a:t>puur</a:t>
            </a:r>
            <a:r>
              <a:rPr lang="en-US" dirty="0"/>
              <a:t> met </a:t>
            </a:r>
            <a:r>
              <a:rPr lang="en-US" dirty="0" err="1"/>
              <a:t>modellen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, </a:t>
            </a:r>
            <a:r>
              <a:rPr lang="en-US" dirty="0" err="1"/>
              <a:t>niet</a:t>
            </a:r>
            <a:r>
              <a:rPr lang="en-US" dirty="0"/>
              <a:t> met de </a:t>
            </a:r>
            <a:r>
              <a:rPr lang="en-US" dirty="0" err="1"/>
              <a:t>datakwaliteit</a:t>
            </a:r>
            <a:r>
              <a:rPr lang="en-US" dirty="0"/>
              <a:t> van </a:t>
            </a:r>
            <a:r>
              <a:rPr lang="en-US" dirty="0" err="1"/>
              <a:t>HyDAMO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AF76B-FC0C-4433-8856-EA639BE2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C480AA-9D66-4937-95E6-B40141B644C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tretch>
            <a:fillRect/>
          </a:stretch>
        </p:blipFill>
        <p:spPr>
          <a:xfrm>
            <a:off x="4679950" y="1041419"/>
            <a:ext cx="3960813" cy="3489287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121597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BA784-F5F5-4B45-8187-14909E3B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DuikerSifonHevel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28A10-A101-4EF4-9666-EB5700DB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355CCC-CE87-43FD-957D-69824A91FB4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 err="1"/>
              <a:t>Voornaamste</a:t>
            </a:r>
            <a:r>
              <a:rPr lang="en-US" dirty="0"/>
              <a:t> </a:t>
            </a:r>
            <a:r>
              <a:rPr lang="en-US" dirty="0" err="1"/>
              <a:t>fouten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groot</a:t>
            </a:r>
            <a:r>
              <a:rPr lang="en-US" dirty="0"/>
              <a:t> </a:t>
            </a:r>
            <a:r>
              <a:rPr lang="en-US" dirty="0" err="1"/>
              <a:t>verhang</a:t>
            </a:r>
            <a:endParaRPr lang="en-US" dirty="0"/>
          </a:p>
          <a:p>
            <a:pPr lvl="1"/>
            <a:r>
              <a:rPr lang="en-US" dirty="0" err="1"/>
              <a:t>Lengte</a:t>
            </a:r>
            <a:r>
              <a:rPr lang="en-US" dirty="0"/>
              <a:t> &lt; 1m</a:t>
            </a:r>
          </a:p>
          <a:p>
            <a:pPr lvl="1"/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netjes</a:t>
            </a:r>
            <a:r>
              <a:rPr lang="en-US" dirty="0"/>
              <a:t> op </a:t>
            </a:r>
            <a:r>
              <a:rPr lang="en-US" dirty="0" err="1"/>
              <a:t>HydroObject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Ondanks</a:t>
            </a:r>
            <a:r>
              <a:rPr lang="en-US" dirty="0"/>
              <a:t> </a:t>
            </a:r>
            <a:r>
              <a:rPr lang="en-US" dirty="0" err="1"/>
              <a:t>fouten</a:t>
            </a:r>
            <a:r>
              <a:rPr lang="en-US" dirty="0"/>
              <a:t> </a:t>
            </a:r>
            <a:r>
              <a:rPr lang="en-US" dirty="0" err="1"/>
              <a:t>vaak</a:t>
            </a:r>
            <a:r>
              <a:rPr lang="en-US" dirty="0"/>
              <a:t> </a:t>
            </a:r>
            <a:r>
              <a:rPr lang="en-US" dirty="0" err="1"/>
              <a:t>goed</a:t>
            </a:r>
            <a:r>
              <a:rPr lang="en-US" dirty="0"/>
              <a:t> </a:t>
            </a:r>
            <a:r>
              <a:rPr lang="en-US" dirty="0" err="1"/>
              <a:t>genoeg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modelbouw</a:t>
            </a:r>
            <a:endParaRPr lang="nl-NL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A302681-669C-4B22-9D89-179FA73CC8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03358" y="892175"/>
            <a:ext cx="3689134" cy="3787775"/>
          </a:xfrm>
        </p:spPr>
      </p:pic>
    </p:spTree>
    <p:extLst>
      <p:ext uri="{BB962C8B-B14F-4D97-AF65-F5344CB8AC3E}">
        <p14:creationId xmlns:p14="http://schemas.microsoft.com/office/powerpoint/2010/main" val="1633275074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29F50-0BF8-4377-83AF-265510BB5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Samengevat</a:t>
            </a:r>
            <a:endParaRPr lang="nl-N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98365-55C3-4D90-8BAE-4E932A530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Bruikbaar</a:t>
            </a:r>
            <a:r>
              <a:rPr lang="en-US" dirty="0"/>
              <a:t> om </a:t>
            </a:r>
            <a:r>
              <a:rPr lang="en-US" dirty="0" err="1"/>
              <a:t>snel</a:t>
            </a:r>
            <a:r>
              <a:rPr lang="en-US" dirty="0"/>
              <a:t> </a:t>
            </a:r>
            <a:r>
              <a:rPr lang="en-US" dirty="0" err="1"/>
              <a:t>inzicht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krijgen</a:t>
            </a:r>
            <a:r>
              <a:rPr lang="en-US" dirty="0"/>
              <a:t> in </a:t>
            </a:r>
            <a:r>
              <a:rPr lang="en-US" dirty="0" err="1"/>
              <a:t>bepaalde</a:t>
            </a:r>
            <a:r>
              <a:rPr lang="en-US" dirty="0"/>
              <a:t> </a:t>
            </a:r>
            <a:r>
              <a:rPr lang="en-US" dirty="0" err="1"/>
              <a:t>kwaliteitseisen</a:t>
            </a:r>
            <a:endParaRPr lang="en-US" dirty="0"/>
          </a:p>
          <a:p>
            <a:r>
              <a:rPr lang="en-US" dirty="0"/>
              <a:t>Extra checks </a:t>
            </a:r>
            <a:r>
              <a:rPr lang="en-US" dirty="0" err="1"/>
              <a:t>noodzakelijk</a:t>
            </a:r>
            <a:r>
              <a:rPr lang="en-US" dirty="0"/>
              <a:t> om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compleet</a:t>
            </a:r>
            <a:r>
              <a:rPr lang="en-US" dirty="0"/>
              <a:t> </a:t>
            </a:r>
            <a:r>
              <a:rPr lang="en-US" dirty="0" err="1"/>
              <a:t>beeld</a:t>
            </a:r>
            <a:r>
              <a:rPr lang="en-US" dirty="0"/>
              <a:t> van </a:t>
            </a:r>
            <a:r>
              <a:rPr lang="en-US" dirty="0" err="1"/>
              <a:t>kwaliteit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krijgen</a:t>
            </a:r>
            <a:endParaRPr lang="en-US" dirty="0"/>
          </a:p>
          <a:p>
            <a:pPr lvl="1"/>
            <a:r>
              <a:rPr lang="en-US" dirty="0" err="1"/>
              <a:t>Waar</a:t>
            </a:r>
            <a:r>
              <a:rPr lang="en-US" dirty="0"/>
              <a:t> zit </a:t>
            </a:r>
            <a:r>
              <a:rPr lang="en-US" dirty="0" err="1"/>
              <a:t>behoefte</a:t>
            </a:r>
            <a:r>
              <a:rPr lang="en-US" dirty="0"/>
              <a:t> aan </a:t>
            </a:r>
            <a:r>
              <a:rPr lang="en-US" dirty="0" err="1"/>
              <a:t>uitbreiding</a:t>
            </a:r>
            <a:r>
              <a:rPr lang="en-US" dirty="0"/>
              <a:t>?</a:t>
            </a:r>
          </a:p>
          <a:p>
            <a:r>
              <a:rPr lang="en-US" dirty="0"/>
              <a:t>Extra </a:t>
            </a:r>
            <a:r>
              <a:rPr lang="en-US" dirty="0" err="1"/>
              <a:t>modelspecifieke</a:t>
            </a:r>
            <a:r>
              <a:rPr lang="en-US" dirty="0"/>
              <a:t> checks </a:t>
            </a:r>
            <a:r>
              <a:rPr lang="en-US" dirty="0" err="1"/>
              <a:t>buiten</a:t>
            </a:r>
            <a:r>
              <a:rPr lang="en-US" dirty="0"/>
              <a:t> toolbox </a:t>
            </a:r>
            <a:r>
              <a:rPr lang="en-US" dirty="0" err="1"/>
              <a:t>blijven</a:t>
            </a:r>
            <a:r>
              <a:rPr lang="en-US" dirty="0"/>
              <a:t> </a:t>
            </a:r>
            <a:r>
              <a:rPr lang="en-US" dirty="0" err="1"/>
              <a:t>nodig</a:t>
            </a:r>
            <a:endParaRPr lang="en-US" dirty="0"/>
          </a:p>
          <a:p>
            <a:endParaRPr lang="en-US" dirty="0"/>
          </a:p>
          <a:p>
            <a:r>
              <a:rPr lang="en-US" dirty="0"/>
              <a:t>Na de </a:t>
            </a:r>
            <a:r>
              <a:rPr lang="en-US" dirty="0" err="1"/>
              <a:t>pauze</a:t>
            </a:r>
            <a:r>
              <a:rPr lang="en-US" dirty="0"/>
              <a:t>: break-out </a:t>
            </a:r>
            <a:r>
              <a:rPr lang="en-US" dirty="0" err="1"/>
              <a:t>sessie</a:t>
            </a:r>
            <a:r>
              <a:rPr lang="en-US" dirty="0"/>
              <a:t> over </a:t>
            </a:r>
            <a:r>
              <a:rPr lang="en-US" dirty="0" err="1"/>
              <a:t>uitbreiding</a:t>
            </a:r>
            <a:r>
              <a:rPr lang="en-US" dirty="0"/>
              <a:t> van </a:t>
            </a:r>
            <a:r>
              <a:rPr lang="en-US" dirty="0" err="1"/>
              <a:t>validatieregels</a:t>
            </a:r>
            <a:endParaRPr lang="en-US" dirty="0"/>
          </a:p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8403B-CFCF-49F1-A5AA-E5EE8453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447434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50BF-A6F0-408B-91E2-DFBF82EF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1F606-66CE-4B58-BFF2-07CD6938F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033D7-9873-420F-A7C2-FF5D8068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946204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F649C-4CEB-4A21-BF8B-880AF169F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Break-out </a:t>
            </a:r>
            <a:r>
              <a:rPr lang="en-US" dirty="0" err="1"/>
              <a:t>sessie</a:t>
            </a:r>
            <a:r>
              <a:rPr lang="en-US" dirty="0"/>
              <a:t>: </a:t>
            </a:r>
            <a:r>
              <a:rPr lang="en-US" dirty="0" err="1"/>
              <a:t>Validatieregels</a:t>
            </a:r>
            <a:r>
              <a:rPr lang="en-US" dirty="0"/>
              <a:t> </a:t>
            </a:r>
            <a:r>
              <a:rPr lang="en-US" dirty="0" err="1"/>
              <a:t>toevoegen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A1699-AB9D-46A7-A2E2-FC6AEF067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1990800"/>
            <a:ext cx="6352800" cy="540310"/>
          </a:xfrm>
        </p:spPr>
        <p:txBody>
          <a:bodyPr/>
          <a:lstStyle/>
          <a:p>
            <a:r>
              <a:rPr lang="en-US" dirty="0"/>
              <a:t>Daniel Tollenaar (D2HYDRO) &amp; Emiel Verstegen (RHDHV)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7A703-B824-4AEB-8C74-F80DECFAC1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9 </a:t>
            </a:r>
            <a:r>
              <a:rPr lang="en-US" dirty="0" err="1"/>
              <a:t>februari</a:t>
            </a:r>
            <a:r>
              <a:rPr lang="en-US" dirty="0"/>
              <a:t> 2023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8552235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CF2A-2030-414A-9FB6-41DAC21B1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Break out </a:t>
            </a:r>
            <a:r>
              <a:rPr lang="en-US" dirty="0" err="1"/>
              <a:t>sessie</a:t>
            </a:r>
            <a:r>
              <a:rPr lang="en-US" dirty="0"/>
              <a:t> – </a:t>
            </a:r>
            <a:r>
              <a:rPr lang="en-US" dirty="0" err="1"/>
              <a:t>inhoudelijke</a:t>
            </a:r>
            <a:r>
              <a:rPr lang="en-US" dirty="0"/>
              <a:t> </a:t>
            </a:r>
            <a:r>
              <a:rPr lang="en-US" dirty="0" err="1"/>
              <a:t>discussiepunten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B9330-F0AB-4C1A-AC08-3DA479712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Wanneer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HydroObjecten</a:t>
            </a:r>
            <a:r>
              <a:rPr lang="en-US" dirty="0"/>
              <a:t> ‘</a:t>
            </a:r>
            <a:r>
              <a:rPr lang="en-US" dirty="0" err="1"/>
              <a:t>bijna</a:t>
            </a:r>
            <a:r>
              <a:rPr lang="en-US" dirty="0"/>
              <a:t> </a:t>
            </a:r>
            <a:r>
              <a:rPr lang="en-US" dirty="0" err="1"/>
              <a:t>overlappend</a:t>
            </a:r>
            <a:r>
              <a:rPr lang="en-US" dirty="0"/>
              <a:t>’. Hoe om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gaan</a:t>
            </a:r>
            <a:r>
              <a:rPr lang="en-US" dirty="0"/>
              <a:t> met </a:t>
            </a:r>
            <a:r>
              <a:rPr lang="en-US" dirty="0" err="1"/>
              <a:t>parallele</a:t>
            </a:r>
            <a:r>
              <a:rPr lang="en-US" dirty="0"/>
              <a:t> </a:t>
            </a:r>
            <a:r>
              <a:rPr lang="en-US" dirty="0" err="1"/>
              <a:t>hydroobjecten</a:t>
            </a:r>
            <a:r>
              <a:rPr lang="en-US" dirty="0"/>
              <a:t> (2 duikers </a:t>
            </a:r>
            <a:r>
              <a:rPr lang="en-US" dirty="0" err="1"/>
              <a:t>naast</a:t>
            </a:r>
            <a:r>
              <a:rPr lang="en-US" dirty="0"/>
              <a:t> </a:t>
            </a:r>
            <a:r>
              <a:rPr lang="en-US" dirty="0" err="1"/>
              <a:t>elkaar</a:t>
            </a:r>
            <a:r>
              <a:rPr lang="en-US" dirty="0"/>
              <a:t>)?</a:t>
            </a:r>
          </a:p>
          <a:p>
            <a:r>
              <a:rPr lang="en-US" dirty="0" err="1"/>
              <a:t>Modelspecifieke</a:t>
            </a:r>
            <a:r>
              <a:rPr lang="en-US" dirty="0"/>
              <a:t> checks (</a:t>
            </a:r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interpolatie</a:t>
            </a:r>
            <a:r>
              <a:rPr lang="en-US" dirty="0"/>
              <a:t>, </a:t>
            </a:r>
            <a:r>
              <a:rPr lang="en-US" dirty="0" err="1"/>
              <a:t>korte</a:t>
            </a:r>
            <a:r>
              <a:rPr lang="en-US" dirty="0"/>
              <a:t> </a:t>
            </a:r>
            <a:r>
              <a:rPr lang="en-US" dirty="0" err="1"/>
              <a:t>hydroobjecten</a:t>
            </a:r>
            <a:r>
              <a:rPr lang="en-US" dirty="0"/>
              <a:t>/duikers),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onderdeel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van de Toolbox?</a:t>
            </a:r>
          </a:p>
          <a:p>
            <a:r>
              <a:rPr lang="en-US" dirty="0" err="1"/>
              <a:t>Afvoerroute</a:t>
            </a:r>
            <a:r>
              <a:rPr lang="en-US" dirty="0"/>
              <a:t> </a:t>
            </a:r>
            <a:r>
              <a:rPr lang="en-US" dirty="0" err="1"/>
              <a:t>bepalen</a:t>
            </a:r>
            <a:r>
              <a:rPr lang="en-US" dirty="0"/>
              <a:t>.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verbinding</a:t>
            </a:r>
            <a:r>
              <a:rPr lang="en-US" dirty="0"/>
              <a:t> met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afvoerend</a:t>
            </a:r>
            <a:r>
              <a:rPr lang="en-US" dirty="0"/>
              <a:t> </a:t>
            </a:r>
            <a:r>
              <a:rPr lang="en-US" dirty="0" err="1"/>
              <a:t>kunstwerk</a:t>
            </a:r>
            <a:r>
              <a:rPr lang="en-US" dirty="0"/>
              <a:t> (</a:t>
            </a:r>
            <a:r>
              <a:rPr lang="en-US" dirty="0" err="1"/>
              <a:t>peilscheidende</a:t>
            </a:r>
            <a:r>
              <a:rPr lang="en-US" dirty="0"/>
              <a:t> </a:t>
            </a:r>
            <a:r>
              <a:rPr lang="en-US" dirty="0" err="1"/>
              <a:t>stuw</a:t>
            </a:r>
            <a:r>
              <a:rPr lang="en-US" dirty="0"/>
              <a:t>, </a:t>
            </a:r>
            <a:r>
              <a:rPr lang="en-US" dirty="0" err="1"/>
              <a:t>gemaal</a:t>
            </a:r>
            <a:r>
              <a:rPr lang="en-US" dirty="0"/>
              <a:t>, …) of </a:t>
            </a:r>
            <a:r>
              <a:rPr lang="en-US" dirty="0" err="1"/>
              <a:t>benedenstroomse</a:t>
            </a:r>
            <a:r>
              <a:rPr lang="en-US" dirty="0"/>
              <a:t> </a:t>
            </a:r>
            <a:r>
              <a:rPr lang="en-US" dirty="0" err="1"/>
              <a:t>randvoorwaarde</a:t>
            </a:r>
            <a:r>
              <a:rPr lang="en-US" dirty="0"/>
              <a:t>.</a:t>
            </a:r>
          </a:p>
          <a:p>
            <a:r>
              <a:rPr lang="en-US" dirty="0" err="1"/>
              <a:t>Kruinhoogte</a:t>
            </a:r>
            <a:r>
              <a:rPr lang="en-US" dirty="0"/>
              <a:t> </a:t>
            </a:r>
            <a:r>
              <a:rPr lang="en-US" dirty="0" err="1"/>
              <a:t>stuw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marge van </a:t>
            </a:r>
            <a:r>
              <a:rPr lang="en-US" dirty="0" err="1"/>
              <a:t>hoogste</a:t>
            </a:r>
            <a:r>
              <a:rPr lang="en-US" dirty="0"/>
              <a:t> </a:t>
            </a:r>
            <a:r>
              <a:rPr lang="en-US" dirty="0" err="1"/>
              <a:t>streefpeil</a:t>
            </a:r>
            <a:endParaRPr lang="en-US" dirty="0"/>
          </a:p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7007A-1D89-4554-B48B-37B101D4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075105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DE87-34B0-4ACD-B8F4-A8AC63B8F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EBE2C-E310-4F1A-961C-69EB2810C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566FCEB-2FC8-4D32-8F49-C0F7ADE2E7DB}"/>
              </a:ext>
            </a:extLst>
          </p:cNvPr>
          <p:cNvSpPr/>
          <p:nvPr/>
        </p:nvSpPr>
        <p:spPr>
          <a:xfrm>
            <a:off x="269137" y="1528749"/>
            <a:ext cx="1554592" cy="790601"/>
          </a:xfrm>
          <a:prstGeom prst="ellipse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Nieuwe</a:t>
            </a:r>
            <a:r>
              <a:rPr lang="en-US" sz="2000" dirty="0"/>
              <a:t> </a:t>
            </a:r>
            <a:r>
              <a:rPr lang="en-US" sz="2000" dirty="0" err="1"/>
              <a:t>validatie</a:t>
            </a:r>
            <a:endParaRPr lang="nl-NL" sz="2000" dirty="0"/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A06A36EB-7F7B-431E-A875-174CE94FF1DA}"/>
              </a:ext>
            </a:extLst>
          </p:cNvPr>
          <p:cNvSpPr/>
          <p:nvPr/>
        </p:nvSpPr>
        <p:spPr>
          <a:xfrm>
            <a:off x="2555137" y="1400150"/>
            <a:ext cx="1447800" cy="1047799"/>
          </a:xfrm>
          <a:prstGeom prst="flowChartDecision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HyDAMO</a:t>
            </a:r>
            <a:r>
              <a:rPr lang="en-US" sz="1100" dirty="0"/>
              <a:t> </a:t>
            </a:r>
            <a:r>
              <a:rPr lang="en-US" sz="1100" dirty="0" err="1"/>
              <a:t>compleet</a:t>
            </a:r>
            <a:endParaRPr lang="nl-NL" sz="1100" dirty="0"/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7BA57249-C87B-4252-AE81-B9499517B939}"/>
              </a:ext>
            </a:extLst>
          </p:cNvPr>
          <p:cNvSpPr/>
          <p:nvPr/>
        </p:nvSpPr>
        <p:spPr>
          <a:xfrm>
            <a:off x="4764937" y="1400149"/>
            <a:ext cx="1447800" cy="1047799"/>
          </a:xfrm>
          <a:prstGeom prst="flowChartDecision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Functie</a:t>
            </a:r>
            <a:r>
              <a:rPr lang="en-US" sz="1100" dirty="0"/>
              <a:t> toolbox </a:t>
            </a:r>
            <a:r>
              <a:rPr lang="en-US" sz="1100" dirty="0" err="1"/>
              <a:t>aanwezig</a:t>
            </a:r>
            <a:endParaRPr lang="nl-NL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1CBAEA-DE13-49CA-B7B2-8E3D65AF2C97}"/>
              </a:ext>
            </a:extLst>
          </p:cNvPr>
          <p:cNvSpPr/>
          <p:nvPr/>
        </p:nvSpPr>
        <p:spPr>
          <a:xfrm>
            <a:off x="2783737" y="3333750"/>
            <a:ext cx="990600" cy="914400"/>
          </a:xfrm>
          <a:prstGeom prst="rect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Pas </a:t>
            </a:r>
            <a:r>
              <a:rPr lang="en-US" sz="1600" dirty="0" err="1"/>
              <a:t>HyDAMO</a:t>
            </a:r>
            <a:r>
              <a:rPr lang="en-US" sz="1600" dirty="0"/>
              <a:t> aan</a:t>
            </a:r>
            <a:endParaRPr lang="nl-NL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6129EB-037F-47CC-9DDA-2C79072518EA}"/>
              </a:ext>
            </a:extLst>
          </p:cNvPr>
          <p:cNvSpPr/>
          <p:nvPr/>
        </p:nvSpPr>
        <p:spPr>
          <a:xfrm>
            <a:off x="4993537" y="3333750"/>
            <a:ext cx="990600" cy="914400"/>
          </a:xfrm>
          <a:prstGeom prst="rect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Pas Toolbox aan</a:t>
            </a:r>
            <a:endParaRPr lang="nl-NL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1C5A20-94C0-4DE8-939F-09314BA8B1E8}"/>
              </a:ext>
            </a:extLst>
          </p:cNvPr>
          <p:cNvSpPr/>
          <p:nvPr/>
        </p:nvSpPr>
        <p:spPr>
          <a:xfrm>
            <a:off x="7590602" y="1483498"/>
            <a:ext cx="1324798" cy="881100"/>
          </a:xfrm>
          <a:prstGeom prst="rect">
            <a:avLst/>
          </a:prstGeom>
          <a:solidFill>
            <a:srgbClr val="00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Voeg</a:t>
            </a:r>
            <a:r>
              <a:rPr lang="en-US" sz="1600" dirty="0"/>
              <a:t> </a:t>
            </a:r>
            <a:r>
              <a:rPr lang="en-US" sz="1600" dirty="0" err="1"/>
              <a:t>validatieregel</a:t>
            </a:r>
            <a:r>
              <a:rPr lang="en-US" sz="1600" dirty="0"/>
              <a:t> toe</a:t>
            </a:r>
            <a:endParaRPr lang="nl-NL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CBE86B-F2F8-445F-8EAA-1DCBEAC84CDA}"/>
              </a:ext>
            </a:extLst>
          </p:cNvPr>
          <p:cNvCxnSpPr>
            <a:stCxn id="5" idx="6"/>
            <a:endCxn id="6" idx="1"/>
          </p:cNvCxnSpPr>
          <p:nvPr/>
        </p:nvCxnSpPr>
        <p:spPr>
          <a:xfrm>
            <a:off x="1823729" y="1924050"/>
            <a:ext cx="73140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D07005-AB22-4F4F-A506-97E60D714B05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3279037" y="2447949"/>
            <a:ext cx="0" cy="885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A6B411-E585-4C96-8E92-13BB27B5C325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5488837" y="2447948"/>
            <a:ext cx="0" cy="8858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752890-6BA7-4B32-B778-F293FC529453}"/>
              </a:ext>
            </a:extLst>
          </p:cNvPr>
          <p:cNvCxnSpPr>
            <a:stCxn id="7" idx="3"/>
            <a:endCxn id="11" idx="1"/>
          </p:cNvCxnSpPr>
          <p:nvPr/>
        </p:nvCxnSpPr>
        <p:spPr>
          <a:xfrm flipV="1">
            <a:off x="6212737" y="1924048"/>
            <a:ext cx="137786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C1E66A-CAE7-485F-A031-1ADE3C5C9442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4002937" y="1924049"/>
            <a:ext cx="76200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44766DD-F2CF-49F8-AF57-65974D53D5A1}"/>
              </a:ext>
            </a:extLst>
          </p:cNvPr>
          <p:cNvSpPr txBox="1"/>
          <p:nvPr/>
        </p:nvSpPr>
        <p:spPr>
          <a:xfrm>
            <a:off x="4110659" y="192404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</a:t>
            </a:r>
            <a:endParaRPr lang="nl-N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BE929C-FDD1-4CC9-A767-6461CDDA97EB}"/>
              </a:ext>
            </a:extLst>
          </p:cNvPr>
          <p:cNvSpPr txBox="1"/>
          <p:nvPr/>
        </p:nvSpPr>
        <p:spPr>
          <a:xfrm>
            <a:off x="6338897" y="192404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</a:t>
            </a:r>
            <a:endParaRPr lang="nl-N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E83806-060F-49BE-AED1-7E450F023DF3}"/>
              </a:ext>
            </a:extLst>
          </p:cNvPr>
          <p:cNvSpPr txBox="1"/>
          <p:nvPr/>
        </p:nvSpPr>
        <p:spPr>
          <a:xfrm>
            <a:off x="3274631" y="241935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</a:t>
            </a:r>
            <a:endParaRPr lang="nl-N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14E614-3972-4E9C-BEF6-D6FE6022FBF4}"/>
              </a:ext>
            </a:extLst>
          </p:cNvPr>
          <p:cNvSpPr txBox="1"/>
          <p:nvPr/>
        </p:nvSpPr>
        <p:spPr>
          <a:xfrm>
            <a:off x="5528422" y="241935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5675097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320C-8AB2-4BA9-8336-36CC189C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Hoe </a:t>
            </a:r>
            <a:r>
              <a:rPr lang="en-US" dirty="0" err="1"/>
              <a:t>bijdragen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03CDF-13A7-4D09-8A88-8F2E28D45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Beleidsmatig</a:t>
            </a:r>
          </a:p>
          <a:p>
            <a:pPr lvl="1"/>
            <a:r>
              <a:rPr lang="nl-NL" dirty="0"/>
              <a:t>Wie bepaalt?</a:t>
            </a:r>
          </a:p>
          <a:p>
            <a:r>
              <a:rPr lang="nl-NL" dirty="0"/>
              <a:t>Technisch</a:t>
            </a:r>
          </a:p>
          <a:p>
            <a:pPr lvl="1"/>
            <a:r>
              <a:rPr lang="nl-NL" dirty="0">
                <a:hlinkClick r:id="rId2"/>
              </a:rPr>
              <a:t>Aanpassen validatieregels</a:t>
            </a:r>
            <a:r>
              <a:rPr lang="nl-NL" dirty="0"/>
              <a:t> (</a:t>
            </a:r>
            <a:r>
              <a:rPr lang="nl-NL" dirty="0" err="1"/>
              <a:t>json</a:t>
            </a:r>
            <a:r>
              <a:rPr lang="nl-NL" dirty="0"/>
              <a:t>)</a:t>
            </a:r>
          </a:p>
          <a:p>
            <a:pPr lvl="1"/>
            <a:r>
              <a:rPr lang="nl-NL" dirty="0">
                <a:hlinkClick r:id="rId3"/>
              </a:rPr>
              <a:t>Aanpassen validatiefuncties</a:t>
            </a:r>
            <a:r>
              <a:rPr lang="nl-NL" dirty="0"/>
              <a:t> (python)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0F7FD-6678-46DF-94D6-165154D3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7836-E4B3-4985-A8BA-D04AF4A8C90B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2414612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a97ff75f03eec8c3724c0bec16bba247d597373"/>
</p:tagLst>
</file>

<file path=ppt/theme/theme1.xml><?xml version="1.0" encoding="utf-8"?>
<a:theme xmlns:a="http://schemas.openxmlformats.org/drawingml/2006/main" name="Office Theme">
  <a:themeElements>
    <a:clrScheme name="rhdhv ppt">
      <a:dk1>
        <a:srgbClr val="00577E"/>
      </a:dk1>
      <a:lt1>
        <a:sysClr val="window" lastClr="FFFFFF"/>
      </a:lt1>
      <a:dk2>
        <a:srgbClr val="00577E"/>
      </a:dk2>
      <a:lt2>
        <a:srgbClr val="FFFFFF"/>
      </a:lt2>
      <a:accent1>
        <a:srgbClr val="A5C100"/>
      </a:accent1>
      <a:accent2>
        <a:srgbClr val="0086A8"/>
      </a:accent2>
      <a:accent3>
        <a:srgbClr val="00577E"/>
      </a:accent3>
      <a:accent4>
        <a:srgbClr val="E31F18"/>
      </a:accent4>
      <a:accent5>
        <a:srgbClr val="72971B"/>
      </a:accent5>
      <a:accent6>
        <a:srgbClr val="696868"/>
      </a:accent6>
      <a:hlink>
        <a:srgbClr val="1F497D"/>
      </a:hlink>
      <a:folHlink>
        <a:srgbClr val="1F49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77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n Screen 16x9_Corporate.potx" id="{0E3F80FB-B837-4EA1-AE6A-453737D8AA5C}" vid="{564EAB17-A17E-428F-8044-407EB6F6A9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On Screen 16x9_Corporate</Template>
  <TotalTime>2174</TotalTime>
  <Words>610</Words>
  <Application>Microsoft Office PowerPoint</Application>
  <PresentationFormat>On-screen Show (16:9)</PresentationFormat>
  <Paragraphs>119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Validatietool en modelgeneratie</vt:lpstr>
      <vt:lpstr>Context</vt:lpstr>
      <vt:lpstr>Context</vt:lpstr>
      <vt:lpstr>Eerste resultaten - HydroObjecten</vt:lpstr>
      <vt:lpstr>Eerste resultaten - HydroObjecten</vt:lpstr>
      <vt:lpstr>Afvoerroute</vt:lpstr>
      <vt:lpstr>Extra checks - HydroObject</vt:lpstr>
      <vt:lpstr>Extra checks - HydroObject</vt:lpstr>
      <vt:lpstr>DuikerSifonHevel</vt:lpstr>
      <vt:lpstr>Samengevat</vt:lpstr>
      <vt:lpstr>PowerPoint Presentation</vt:lpstr>
      <vt:lpstr>Break-out sessie: Validatieregels toevoegen</vt:lpstr>
      <vt:lpstr>Break out sessie – inhoudelijke discussiepunten</vt:lpstr>
      <vt:lpstr>PowerPoint Presentation</vt:lpstr>
      <vt:lpstr>Hoe bijdragen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BZ1178-RHD-ZZ-XX-PP-Z-0001-Validatietool en modelgeneratie</dc:title>
  <dc:creator>Emiel Verstegen</dc:creator>
  <cp:lastModifiedBy>Emiel Verstegen</cp:lastModifiedBy>
  <cp:revision>27</cp:revision>
  <cp:lastPrinted>2016-05-11T07:06:19Z</cp:lastPrinted>
  <dcterms:created xsi:type="dcterms:W3CDTF">2023-01-16T15:08:08Z</dcterms:created>
  <dcterms:modified xsi:type="dcterms:W3CDTF">2023-02-08T16:10:27Z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signTemplate">
    <vt:lpwstr>Corporate</vt:lpwstr>
  </property>
  <property fmtid="{D5CDD505-2E9C-101B-9397-08002B2CF9AE}" pid="3" name="SecondLogo">
    <vt:lpwstr/>
  </property>
  <property fmtid="{D5CDD505-2E9C-101B-9397-08002B2CF9AE}" pid="4" name="Author">
    <vt:lpwstr>Emiel Verstegen</vt:lpwstr>
  </property>
  <property fmtid="{D5CDD505-2E9C-101B-9397-08002B2CF9AE}" pid="5" name="Date">
    <vt:lpwstr>9 februari 2023</vt:lpwstr>
  </property>
  <property fmtid="{D5CDD505-2E9C-101B-9397-08002B2CF9AE}" pid="6" name="FooterLogo">
    <vt:bool>true</vt:bool>
  </property>
  <property fmtid="{D5CDD505-2E9C-101B-9397-08002B2CF9AE}" pid="7" name="FooterSecLogo">
    <vt:bool>false</vt:bool>
  </property>
  <property fmtid="{D5CDD505-2E9C-101B-9397-08002B2CF9AE}" pid="8" name="FooterDate">
    <vt:bool>true</vt:bool>
  </property>
  <property fmtid="{D5CDD505-2E9C-101B-9397-08002B2CF9AE}" pid="9" name="FooterNumbers">
    <vt:bool>true</vt:bool>
  </property>
  <property fmtid="{D5CDD505-2E9C-101B-9397-08002B2CF9AE}" pid="10" name="FooterTitle">
    <vt:bool>false</vt:bool>
  </property>
  <property fmtid="{D5CDD505-2E9C-101B-9397-08002B2CF9AE}" pid="11" name="RHDHV Template">
    <vt:bool>true</vt:bool>
  </property>
  <property fmtid="{D5CDD505-2E9C-101B-9397-08002B2CF9AE}" pid="12" name="endorsedBrandPath">
    <vt:lpwstr/>
  </property>
  <property fmtid="{D5CDD505-2E9C-101B-9397-08002B2CF9AE}" pid="13" name="PresentationType">
    <vt:lpwstr>On Screen 16x9</vt:lpwstr>
  </property>
  <property fmtid="{D5CDD505-2E9C-101B-9397-08002B2CF9AE}" pid="14" name="Classification">
    <vt:lpwstr>Open</vt:lpwstr>
  </property>
  <property fmtid="{D5CDD505-2E9C-101B-9397-08002B2CF9AE}" pid="15" name="Title2nd">
    <vt:lpwstr/>
  </property>
  <property fmtid="{D5CDD505-2E9C-101B-9397-08002B2CF9AE}" pid="16" name="PresentationText">
    <vt:lpwstr/>
  </property>
  <property fmtid="{D5CDD505-2E9C-101B-9397-08002B2CF9AE}" pid="17" name="Originator">
    <vt:lpwstr>RHD</vt:lpwstr>
  </property>
  <property fmtid="{D5CDD505-2E9C-101B-9397-08002B2CF9AE}" pid="18" name="Volume/Systems">
    <vt:lpwstr>ZZ</vt:lpwstr>
  </property>
  <property fmtid="{D5CDD505-2E9C-101B-9397-08002B2CF9AE}" pid="19" name="Levels/Locations">
    <vt:lpwstr>XX</vt:lpwstr>
  </property>
  <property fmtid="{D5CDD505-2E9C-101B-9397-08002B2CF9AE}" pid="20" name="Role">
    <vt:lpwstr>Z</vt:lpwstr>
  </property>
  <property fmtid="{D5CDD505-2E9C-101B-9397-08002B2CF9AE}" pid="21" name="RevisionNumber">
    <vt:lpwstr>P01.01</vt:lpwstr>
  </property>
  <property fmtid="{D5CDD505-2E9C-101B-9397-08002B2CF9AE}" pid="22" name="CDCDocNumber">
    <vt:lpwstr>0001</vt:lpwstr>
  </property>
  <property fmtid="{D5CDD505-2E9C-101B-9397-08002B2CF9AE}" pid="23" name="Status">
    <vt:lpwstr>S0/P01.01</vt:lpwstr>
  </property>
  <property fmtid="{D5CDD505-2E9C-101B-9397-08002B2CF9AE}" pid="24" name="CDCstatus">
    <vt:lpwstr>BIM</vt:lpwstr>
  </property>
  <property fmtid="{D5CDD505-2E9C-101B-9397-08002B2CF9AE}" pid="25" name="CDCcode">
    <vt:lpwstr>BZ1178-RHD-ZZ-XX-PP-Z-0001</vt:lpwstr>
  </property>
  <property fmtid="{D5CDD505-2E9C-101B-9397-08002B2CF9AE}" pid="26" name="NewCDC">
    <vt:lpwstr>1</vt:lpwstr>
  </property>
  <property fmtid="{D5CDD505-2E9C-101B-9397-08002B2CF9AE}" pid="27" name="ProjectNumber">
    <vt:lpwstr>BZ1178</vt:lpwstr>
  </property>
  <property fmtid="{D5CDD505-2E9C-101B-9397-08002B2CF9AE}" pid="28" name="AppVersion">
    <vt:lpwstr>4.8.4</vt:lpwstr>
  </property>
</Properties>
</file>