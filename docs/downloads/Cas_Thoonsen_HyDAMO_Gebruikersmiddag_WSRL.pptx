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5" r:id="rId2"/>
    <p:sldId id="276" r:id="rId3"/>
    <p:sldId id="262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66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Stijl, gemiddeld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0814" autoAdjust="0"/>
  </p:normalViewPr>
  <p:slideViewPr>
    <p:cSldViewPr snapToGrid="0" showGuides="1">
      <p:cViewPr>
        <p:scale>
          <a:sx n="100" d="100"/>
          <a:sy n="100" d="100"/>
        </p:scale>
        <p:origin x="93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C3F35-24D5-4517-8673-A21C0BF40688}" type="datetimeFigureOut">
              <a:rPr lang="nl-NL" smtClean="0"/>
              <a:t>09-02-2023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A5EA4-B1D4-48D7-8BC5-5987F26EEAA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131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631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Aanleiding van WSRL om de </a:t>
            </a:r>
            <a:r>
              <a:rPr lang="nl-NL" dirty="0" err="1" smtClean="0"/>
              <a:t>HyDAMO</a:t>
            </a:r>
            <a:r>
              <a:rPr lang="nl-NL" dirty="0" smtClean="0"/>
              <a:t> </a:t>
            </a:r>
            <a:r>
              <a:rPr lang="nl-NL" dirty="0" err="1" smtClean="0"/>
              <a:t>validatietool</a:t>
            </a:r>
            <a:r>
              <a:rPr lang="nl-NL" dirty="0" smtClean="0"/>
              <a:t> te gaan gebruiken</a:t>
            </a:r>
          </a:p>
          <a:p>
            <a:endParaRPr lang="nl-NL" dirty="0" smtClean="0"/>
          </a:p>
          <a:p>
            <a:r>
              <a:rPr lang="nl-NL" dirty="0" smtClean="0"/>
              <a:t>Overkoepelende</a:t>
            </a:r>
            <a:r>
              <a:rPr lang="nl-NL" baseline="0" dirty="0" smtClean="0"/>
              <a:t> project is WSOO:</a:t>
            </a:r>
          </a:p>
          <a:p>
            <a:pPr marL="171450" indent="-171450">
              <a:buFontTx/>
              <a:buChar char="-"/>
            </a:pPr>
            <a:r>
              <a:rPr lang="nl-NL" baseline="0" dirty="0" smtClean="0"/>
              <a:t>Hoofddoel</a:t>
            </a:r>
          </a:p>
          <a:p>
            <a:pPr marL="171450" indent="-171450">
              <a:buFontTx/>
              <a:buChar char="-"/>
            </a:pPr>
            <a:r>
              <a:rPr lang="nl-NL" baseline="0" dirty="0" smtClean="0"/>
              <a:t>Maar, een nevendoel wat daarbij hoort is </a:t>
            </a:r>
          </a:p>
          <a:p>
            <a:pPr marL="171450" indent="-171450">
              <a:buFontTx/>
              <a:buChar char="-"/>
            </a:pPr>
            <a:endParaRPr lang="nl-NL" baseline="0" dirty="0" smtClean="0"/>
          </a:p>
          <a:p>
            <a:pPr marL="0" indent="0">
              <a:buFontTx/>
              <a:buNone/>
            </a:pPr>
            <a:r>
              <a:rPr lang="nl-NL" baseline="0" dirty="0" smtClean="0"/>
              <a:t>Dus de ambitie was om de DAMO database als basis te gebruiken voor de modellering van het watersysteem</a:t>
            </a:r>
          </a:p>
          <a:p>
            <a:pPr marL="0" indent="0">
              <a:buFontTx/>
              <a:buNone/>
            </a:pPr>
            <a:r>
              <a:rPr lang="nl-NL" baseline="0" dirty="0" smtClean="0"/>
              <a:t>Deze modellering vindt plaats in D-HYDRO</a:t>
            </a:r>
          </a:p>
          <a:p>
            <a:pPr marL="0" indent="0">
              <a:buFontTx/>
              <a:buNone/>
            </a:pPr>
            <a:r>
              <a:rPr lang="nl-NL" baseline="0" dirty="0" smtClean="0"/>
              <a:t>In de DAMO database worden het beheerregister en de legger bijgewerkt. Dit maakt de gegevens beschikbaar voor alle medewerkers en uiteindelijk ook externen</a:t>
            </a:r>
          </a:p>
          <a:p>
            <a:pPr marL="0" indent="0">
              <a:buFontTx/>
              <a:buNone/>
            </a:pPr>
            <a:r>
              <a:rPr lang="nl-NL" baseline="0" dirty="0" smtClean="0"/>
              <a:t>Vorm van circulair modelleren. Daarom past HYDAMO zo goed in het WSOO project. </a:t>
            </a:r>
          </a:p>
          <a:p>
            <a:pPr marL="171450" indent="-171450">
              <a:buFontTx/>
              <a:buChar char="-"/>
            </a:pPr>
            <a:endParaRPr lang="nl-NL" baseline="0" dirty="0" smtClean="0"/>
          </a:p>
          <a:p>
            <a:pPr marL="0" indent="0">
              <a:buFontTx/>
              <a:buNone/>
            </a:pPr>
            <a:r>
              <a:rPr lang="nl-NL" baseline="0" dirty="0" smtClean="0"/>
              <a:t>Passen heel g</a:t>
            </a:r>
            <a:endParaRPr lang="nl-NL" dirty="0" smtClean="0"/>
          </a:p>
          <a:p>
            <a:endParaRPr lang="nl-NL" dirty="0" smtClean="0"/>
          </a:p>
          <a:p>
            <a:r>
              <a:rPr lang="nl-NL" dirty="0" smtClean="0"/>
              <a:t>DAMO 1.5</a:t>
            </a:r>
            <a:r>
              <a:rPr lang="nl-NL" baseline="0" dirty="0" smtClean="0"/>
              <a:t> naar DAMO 2.2 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4564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Prioriteit</a:t>
            </a:r>
            <a:r>
              <a:rPr lang="nl-NL" baseline="0" dirty="0" smtClean="0"/>
              <a:t> lag ten eerste bij een aantal deelstroomgebieden. Daarnaast houdt het de werkvoorraad behapbaar en overzichtelijk. </a:t>
            </a:r>
          </a:p>
          <a:p>
            <a:r>
              <a:rPr lang="nl-NL" dirty="0" smtClean="0"/>
              <a:t>FME wordt</a:t>
            </a:r>
            <a:r>
              <a:rPr lang="nl-NL" baseline="0" dirty="0" smtClean="0"/>
              <a:t> binnen WSRL gebruikt als standaard data translatie/transformatie software (Extract, </a:t>
            </a:r>
            <a:r>
              <a:rPr lang="nl-NL" baseline="0" dirty="0" err="1" smtClean="0"/>
              <a:t>transform</a:t>
            </a:r>
            <a:r>
              <a:rPr lang="nl-NL" baseline="0" dirty="0" smtClean="0"/>
              <a:t>, load)</a:t>
            </a:r>
          </a:p>
          <a:p>
            <a:endParaRPr lang="nl-NL" baseline="0" dirty="0" smtClean="0"/>
          </a:p>
          <a:p>
            <a:r>
              <a:rPr lang="nl-NL" baseline="0" dirty="0" smtClean="0"/>
              <a:t>WSRL heeft de Ambitie om doorlopende processen in te richten op FME server </a:t>
            </a:r>
          </a:p>
          <a:p>
            <a:endParaRPr lang="nl-NL" baseline="0" dirty="0" smtClean="0"/>
          </a:p>
          <a:p>
            <a:r>
              <a:rPr lang="nl-NL" baseline="0" dirty="0" smtClean="0"/>
              <a:t>Laatste twee punten zijn inmiddels ook ondervangen in de </a:t>
            </a:r>
            <a:r>
              <a:rPr lang="nl-NL" baseline="0" dirty="0" err="1" smtClean="0"/>
              <a:t>WebGUI</a:t>
            </a:r>
            <a:r>
              <a:rPr lang="nl-NL" baseline="0" dirty="0" smtClean="0"/>
              <a:t> als ik het goed heb</a:t>
            </a:r>
          </a:p>
          <a:p>
            <a:endParaRPr lang="nl-NL" baseline="0" dirty="0" smtClean="0"/>
          </a:p>
          <a:p>
            <a:endParaRPr lang="nl-NL" baseline="0" dirty="0" smtClean="0"/>
          </a:p>
          <a:p>
            <a:endParaRPr lang="nl-NL" baseline="0" dirty="0" smtClean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643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Wasmachine 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9818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 smtClean="0"/>
              <a:t>Validatietooling</a:t>
            </a:r>
            <a:r>
              <a:rPr lang="nl-NL" dirty="0" smtClean="0"/>
              <a:t> wil gegevens conform</a:t>
            </a:r>
            <a:r>
              <a:rPr lang="nl-NL" baseline="0" dirty="0" smtClean="0"/>
              <a:t> een afgesproken formaat 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7593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Informatie opvragen</a:t>
            </a:r>
            <a:r>
              <a:rPr lang="nl-NL" baseline="0" dirty="0" smtClean="0"/>
              <a:t> : is de API online?</a:t>
            </a:r>
          </a:p>
          <a:p>
            <a:r>
              <a:rPr lang="nl-NL" dirty="0" smtClean="0"/>
              <a:t>Status taak</a:t>
            </a:r>
            <a:r>
              <a:rPr lang="nl-NL" baseline="0" dirty="0" smtClean="0"/>
              <a:t> controleren: is de status </a:t>
            </a:r>
            <a:r>
              <a:rPr lang="nl-NL" i="1" baseline="0" dirty="0" err="1" smtClean="0"/>
              <a:t>ready_to_validate</a:t>
            </a:r>
            <a:r>
              <a:rPr lang="nl-NL" i="1" baseline="0" dirty="0" smtClean="0"/>
              <a:t>?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1147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Lijst taken opvragen</a:t>
            </a:r>
            <a:r>
              <a:rPr lang="nl-NL" baseline="0" dirty="0" smtClean="0"/>
              <a:t> voor </a:t>
            </a:r>
            <a:r>
              <a:rPr lang="nl-NL" baseline="0" dirty="0" err="1" smtClean="0"/>
              <a:t>task_id</a:t>
            </a:r>
            <a:r>
              <a:rPr lang="nl-NL" baseline="0" dirty="0" smtClean="0"/>
              <a:t>: met get server/</a:t>
            </a:r>
            <a:r>
              <a:rPr lang="nl-NL" baseline="0" dirty="0" err="1" smtClean="0"/>
              <a:t>tasks</a:t>
            </a:r>
            <a:r>
              <a:rPr lang="nl-NL" baseline="0" dirty="0" smtClean="0"/>
              <a:t> gehele lijst met </a:t>
            </a:r>
            <a:r>
              <a:rPr lang="nl-NL" baseline="0" dirty="0" err="1" smtClean="0"/>
              <a:t>task</a:t>
            </a:r>
            <a:r>
              <a:rPr lang="nl-NL" baseline="0" dirty="0" smtClean="0"/>
              <a:t>, dan de </a:t>
            </a:r>
            <a:r>
              <a:rPr lang="nl-NL" baseline="0" dirty="0" err="1" smtClean="0"/>
              <a:t>id</a:t>
            </a:r>
            <a:r>
              <a:rPr lang="nl-NL" baseline="0" dirty="0" smtClean="0"/>
              <a:t> zoeken bij opgegeven </a:t>
            </a:r>
            <a:r>
              <a:rPr lang="nl-NL" baseline="0" dirty="0" err="1" smtClean="0"/>
              <a:t>taskname</a:t>
            </a:r>
            <a:r>
              <a:rPr lang="nl-NL" baseline="0" dirty="0" smtClean="0"/>
              <a:t> en die </a:t>
            </a:r>
            <a:r>
              <a:rPr lang="nl-NL" baseline="0" dirty="0" err="1" smtClean="0"/>
              <a:t>gerbuiken</a:t>
            </a:r>
            <a:r>
              <a:rPr lang="nl-NL" baseline="0" dirty="0" smtClean="0"/>
              <a:t> om informatie op te vragen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477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Klaarzetten meetopdrachten:</a:t>
            </a:r>
            <a:r>
              <a:rPr lang="nl-NL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 er bij bv een duiker geen afmetingen bekend zijn, of als die niet-plausibel zijn, willen we dat deze wordt ingemeten. Of bv als er op peilscheiding geen kunstwerk ligt. Daar kunnen we wellicht de </a:t>
            </a:r>
            <a:r>
              <a:rPr lang="nl-NL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validatietool</a:t>
            </a:r>
            <a:r>
              <a:rPr lang="nl-NL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voor gebruiken.</a:t>
            </a:r>
          </a:p>
          <a:p>
            <a:endParaRPr lang="nl-NL" dirty="0" smtClean="0"/>
          </a:p>
          <a:p>
            <a:r>
              <a:rPr lang="nl-NL" dirty="0" smtClean="0"/>
              <a:t>Stap naar werkelijk circulair</a:t>
            </a:r>
            <a:r>
              <a:rPr lang="nl-NL" baseline="0" dirty="0" smtClean="0"/>
              <a:t> modelleren: eigenlijk wil je de resultaten uit je D-HYDRO modellen direct kunnen toepassen in DAMO, dit is nog niet gerealiseerd.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FA5EA4-B1D4-48D7-8BC5-5987F26EEAA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376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 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fbeelding">
            <a:extLst>
              <a:ext uri="{FF2B5EF4-FFF2-40B4-BE49-F238E27FC236}">
                <a16:creationId xmlns:a16="http://schemas.microsoft.com/office/drawing/2014/main" id="{3285E395-0E76-405D-8024-3D27061FA2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5970588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234000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8" name="WRL Logo">
            <a:extLst>
              <a:ext uri="{FF2B5EF4-FFF2-40B4-BE49-F238E27FC236}">
                <a16:creationId xmlns:a16="http://schemas.microsoft.com/office/drawing/2014/main" id="{E45A85A2-63C8-43BB-ADB9-ECEBAFE3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5668" y="435769"/>
            <a:ext cx="1958182" cy="1057275"/>
          </a:xfrm>
          <a:prstGeom prst="rect">
            <a:avLst/>
          </a:prstGeom>
          <a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21" name="Groene golf">
            <a:extLst>
              <a:ext uri="{FF2B5EF4-FFF2-40B4-BE49-F238E27FC236}">
                <a16:creationId xmlns:a16="http://schemas.microsoft.com/office/drawing/2014/main" id="{CDBA0C8A-7705-4117-ABE5-7049E097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906000"/>
            <a:ext cx="12192000" cy="2952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25" name="Datum">
            <a:extLst>
              <a:ext uri="{FF2B5EF4-FFF2-40B4-BE49-F238E27FC236}">
                <a16:creationId xmlns:a16="http://schemas.microsoft.com/office/drawing/2014/main" id="{91B49194-F0C0-4BBD-A560-C7C218B736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1807894"/>
            <a:ext cx="5327650" cy="328612"/>
          </a:xfr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3" name="Ondertitel">
            <a:extLst>
              <a:ext uri="{FF2B5EF4-FFF2-40B4-BE49-F238E27FC236}">
                <a16:creationId xmlns:a16="http://schemas.microsoft.com/office/drawing/2014/main" id="{1FBBD577-1A2F-4627-8C68-FFEF042083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8" y="1247723"/>
            <a:ext cx="9183233" cy="445292"/>
          </a:xfrm>
        </p:spPr>
        <p:txBody>
          <a:bodyPr/>
          <a:lstStyle>
            <a:lvl1pPr marL="0" indent="0" algn="l">
              <a:buNone/>
              <a:defRPr sz="32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Eventueel ondertitel</a:t>
            </a:r>
          </a:p>
        </p:txBody>
      </p:sp>
      <p:sp>
        <p:nvSpPr>
          <p:cNvPr id="13" name="Titel">
            <a:extLst>
              <a:ext uri="{FF2B5EF4-FFF2-40B4-BE49-F238E27FC236}">
                <a16:creationId xmlns:a16="http://schemas.microsoft.com/office/drawing/2014/main" id="{F88E0522-7C91-4F76-AB5B-6E931B797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12763"/>
            <a:ext cx="9183233" cy="705530"/>
          </a:xfrm>
        </p:spPr>
        <p:txBody>
          <a:bodyPr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</p:spTree>
    <p:extLst>
      <p:ext uri="{BB962C8B-B14F-4D97-AF65-F5344CB8AC3E}">
        <p14:creationId xmlns:p14="http://schemas.microsoft.com/office/powerpoint/2010/main" val="110066466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typ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terke dijken" descr="Afbeelding met tekst&#10;&#10;Automatisch gegenereerde beschrijving">
            <a:extLst>
              <a:ext uri="{FF2B5EF4-FFF2-40B4-BE49-F238E27FC236}">
                <a16:creationId xmlns:a16="http://schemas.microsoft.com/office/drawing/2014/main" id="{8E7FB2E0-3558-4358-916E-2AF32B1D81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125" y="5807075"/>
            <a:ext cx="2289175" cy="516279"/>
          </a:xfrm>
          <a:prstGeom prst="rect">
            <a:avLst/>
          </a:prstGeom>
        </p:spPr>
      </p:pic>
      <p:sp>
        <p:nvSpPr>
          <p:cNvPr id="16" name="Afbeeelding">
            <a:extLst>
              <a:ext uri="{FF2B5EF4-FFF2-40B4-BE49-F238E27FC236}">
                <a16:creationId xmlns:a16="http://schemas.microsoft.com/office/drawing/2014/main" id="{B4B6C91A-A457-4AFE-AACD-40BC0A5BE6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04242" y="0"/>
            <a:ext cx="6087759" cy="6858000"/>
          </a:xfrm>
          <a:custGeom>
            <a:avLst/>
            <a:gdLst>
              <a:gd name="connsiteX0" fmla="*/ 1360184 w 6087759"/>
              <a:gd name="connsiteY0" fmla="*/ 0 h 6858000"/>
              <a:gd name="connsiteX1" fmla="*/ 6087759 w 6087759"/>
              <a:gd name="connsiteY1" fmla="*/ 0 h 6858000"/>
              <a:gd name="connsiteX2" fmla="*/ 6087759 w 6087759"/>
              <a:gd name="connsiteY2" fmla="*/ 6858000 h 6858000"/>
              <a:gd name="connsiteX3" fmla="*/ 0 w 608775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87759" h="6858000">
                <a:moveTo>
                  <a:pt x="1360184" y="0"/>
                </a:moveTo>
                <a:lnTo>
                  <a:pt x="6087759" y="0"/>
                </a:lnTo>
                <a:lnTo>
                  <a:pt x="6087759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tIns="288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9" name="WRL Logo">
            <a:extLst>
              <a:ext uri="{FF2B5EF4-FFF2-40B4-BE49-F238E27FC236}">
                <a16:creationId xmlns:a16="http://schemas.microsoft.com/office/drawing/2014/main" id="{7BFFD5A8-1A9F-455D-A9F5-9E639036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5668" y="435769"/>
            <a:ext cx="1958182" cy="1057275"/>
          </a:xfrm>
          <a:prstGeom prst="rect">
            <a:avLst/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22" name="Datum">
            <a:extLst>
              <a:ext uri="{FF2B5EF4-FFF2-40B4-BE49-F238E27FC236}">
                <a16:creationId xmlns:a16="http://schemas.microsoft.com/office/drawing/2014/main" id="{2DD71AAE-472D-4274-B2C7-93634989EB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3011891"/>
            <a:ext cx="5327650" cy="328612"/>
          </a:xfrm>
        </p:spPr>
        <p:txBody>
          <a:bodyPr/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nl-NL" dirty="0"/>
              <a:t>Datum</a:t>
            </a:r>
          </a:p>
        </p:txBody>
      </p:sp>
      <p:sp>
        <p:nvSpPr>
          <p:cNvPr id="21" name="Ondertitel 2">
            <a:extLst>
              <a:ext uri="{FF2B5EF4-FFF2-40B4-BE49-F238E27FC236}">
                <a16:creationId xmlns:a16="http://schemas.microsoft.com/office/drawing/2014/main" id="{A1BA06FE-CF21-4A38-8493-00A007F0AC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8" y="2002466"/>
            <a:ext cx="6087759" cy="850272"/>
          </a:xfrm>
        </p:spPr>
        <p:txBody>
          <a:bodyPr wrap="square"/>
          <a:lstStyle>
            <a:lvl1pPr marL="0" indent="0" algn="l">
              <a:buNone/>
              <a:defRPr sz="32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Eventueel ondertitel</a:t>
            </a:r>
          </a:p>
        </p:txBody>
      </p:sp>
      <p:sp>
        <p:nvSpPr>
          <p:cNvPr id="20" name="Titel 12">
            <a:extLst>
              <a:ext uri="{FF2B5EF4-FFF2-40B4-BE49-F238E27FC236}">
                <a16:creationId xmlns:a16="http://schemas.microsoft.com/office/drawing/2014/main" id="{A5E28996-5DA9-44D3-989F-03CB4181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12763"/>
            <a:ext cx="5150153" cy="1308667"/>
          </a:xfrm>
        </p:spPr>
        <p:txBody>
          <a:bodyPr wrap="square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</p:spTree>
    <p:extLst>
      <p:ext uri="{BB962C8B-B14F-4D97-AF65-F5344CB8AC3E}">
        <p14:creationId xmlns:p14="http://schemas.microsoft.com/office/powerpoint/2010/main" val="241708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fbeelding">
            <a:extLst>
              <a:ext uri="{FF2B5EF4-FFF2-40B4-BE49-F238E27FC236}">
                <a16:creationId xmlns:a16="http://schemas.microsoft.com/office/drawing/2014/main" id="{D4C647F2-F972-43B3-880A-1283DDEE61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1368424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685799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1368424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857995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tIns="288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8F0E644-7AE2-4E26-89F9-AFCEC3F07E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450975"/>
            <a:ext cx="5580062" cy="5153025"/>
          </a:xfrm>
        </p:spPr>
        <p:txBody>
          <a:bodyPr/>
          <a:lstStyle>
            <a:lvl1pPr>
              <a:lnSpc>
                <a:spcPct val="200000"/>
              </a:lnSpc>
              <a:buClr>
                <a:schemeClr val="accent4"/>
              </a:buClr>
              <a:defRPr/>
            </a:lvl1pPr>
            <a:lvl2pPr>
              <a:lnSpc>
                <a:spcPct val="200000"/>
              </a:lnSpc>
              <a:defRPr/>
            </a:lvl2pPr>
            <a:lvl3pPr>
              <a:lnSpc>
                <a:spcPct val="200000"/>
              </a:lnSpc>
              <a:buClr>
                <a:schemeClr val="accent4"/>
              </a:buClr>
              <a:defRPr/>
            </a:lvl3pPr>
            <a:lvl4pPr>
              <a:lnSpc>
                <a:spcPct val="200000"/>
              </a:lnSpc>
              <a:buClr>
                <a:schemeClr val="accent4"/>
              </a:buClr>
              <a:defRPr/>
            </a:lvl4pPr>
            <a:lvl5pPr>
              <a:lnSpc>
                <a:spcPct val="200000"/>
              </a:lnSpc>
              <a:buClr>
                <a:schemeClr val="accent4"/>
              </a:buClr>
              <a:defRPr/>
            </a:lvl5pPr>
          </a:lstStyle>
          <a:p>
            <a:pPr lvl="0"/>
            <a:r>
              <a:rPr lang="nl-NL" smtClean="0"/>
              <a:t>Tekststijl van het model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26D6810-D949-DE97-7601-E8838EDBF54A}"/>
              </a:ext>
            </a:extLst>
          </p:cNvPr>
          <p:cNvSpPr txBox="1"/>
          <p:nvPr userDrawn="1"/>
        </p:nvSpPr>
        <p:spPr>
          <a:xfrm>
            <a:off x="515938" y="402798"/>
            <a:ext cx="182086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4000" b="1" dirty="0">
                <a:solidFill>
                  <a:schemeClr val="accent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punt type 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fbeelding">
            <a:extLst>
              <a:ext uri="{FF2B5EF4-FFF2-40B4-BE49-F238E27FC236}">
                <a16:creationId xmlns:a16="http://schemas.microsoft.com/office/drawing/2014/main" id="{93408A00-A8AF-411B-9FD8-8A1CDAF01E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59944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2304000"/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voettekst 4">
            <a:extLst>
              <a:ext uri="{FF2B5EF4-FFF2-40B4-BE49-F238E27FC236}">
                <a16:creationId xmlns:a16="http://schemas.microsoft.com/office/drawing/2014/main" id="{51D9AE73-C8F2-4E02-A4BF-47ACF67C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3787122"/>
            <a:ext cx="12192000" cy="3070878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F488AF0-C472-4AC1-A815-F24F8E91EC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512763"/>
            <a:ext cx="11133137" cy="132556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/>
              <a:t>Klik om een agendapunt te maken</a:t>
            </a:r>
          </a:p>
        </p:txBody>
      </p:sp>
    </p:spTree>
    <p:extLst>
      <p:ext uri="{BB962C8B-B14F-4D97-AF65-F5344CB8AC3E}">
        <p14:creationId xmlns:p14="http://schemas.microsoft.com/office/powerpoint/2010/main" val="958354521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punt type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15FA1694-5482-4D63-9C6A-F15F2EFD03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4488"/>
            <a:ext cx="12192000" cy="2953512"/>
          </a:xfrm>
          <a:prstGeom prst="rect">
            <a:avLst/>
          </a:prstGeom>
        </p:spPr>
      </p:pic>
      <p:sp>
        <p:nvSpPr>
          <p:cNvPr id="20" name="Titel 12">
            <a:extLst>
              <a:ext uri="{FF2B5EF4-FFF2-40B4-BE49-F238E27FC236}">
                <a16:creationId xmlns:a16="http://schemas.microsoft.com/office/drawing/2014/main" id="{A5E28996-5DA9-44D3-989F-03CB4181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12763"/>
            <a:ext cx="11133137" cy="1352211"/>
          </a:xfrm>
        </p:spPr>
        <p:txBody>
          <a:bodyPr wrap="square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Klik om een agendapunt te maken</a:t>
            </a:r>
          </a:p>
        </p:txBody>
      </p:sp>
    </p:spTree>
    <p:extLst>
      <p:ext uri="{BB962C8B-B14F-4D97-AF65-F5344CB8AC3E}">
        <p14:creationId xmlns:p14="http://schemas.microsoft.com/office/powerpoint/2010/main" val="3714347565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pagina 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fbeelding">
            <a:extLst>
              <a:ext uri="{FF2B5EF4-FFF2-40B4-BE49-F238E27FC236}">
                <a16:creationId xmlns:a16="http://schemas.microsoft.com/office/drawing/2014/main" id="{D4C647F2-F972-43B3-880A-1283DDEE61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1368424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685799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1368424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lnTo>
                  <a:pt x="0" y="6857995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tIns="288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A76669-CFBF-4A30-90FC-1D7906A8E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3"/>
            <a:ext cx="6265862" cy="7209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F9E98A9-101B-4A3E-BA63-E4968C7EB1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1465263"/>
            <a:ext cx="5580062" cy="5110162"/>
          </a:xfrm>
        </p:spPr>
        <p:txBody>
          <a:bodyPr/>
          <a:lstStyle>
            <a:lvl1pPr indent="-180000">
              <a:lnSpc>
                <a:spcPct val="100000"/>
              </a:lnSpc>
              <a:buClr>
                <a:schemeClr val="accent4"/>
              </a:buClr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buClr>
                <a:schemeClr val="accent4"/>
              </a:buClr>
              <a:defRPr/>
            </a:lvl3pPr>
            <a:lvl4pPr>
              <a:lnSpc>
                <a:spcPct val="100000"/>
              </a:lnSpc>
              <a:buClr>
                <a:schemeClr val="accent4"/>
              </a:buClr>
              <a:defRPr/>
            </a:lvl4pPr>
            <a:lvl5pPr>
              <a:lnSpc>
                <a:spcPct val="100000"/>
              </a:lnSpc>
              <a:buClr>
                <a:schemeClr val="accent4"/>
              </a:buClr>
              <a:defRPr/>
            </a:lvl5pPr>
          </a:lstStyle>
          <a:p>
            <a:pPr lvl="0"/>
            <a:r>
              <a:rPr lang="nl-NL" dirty="0"/>
              <a:t>Eerste niveau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88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pagina ty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69472F0E-2BB7-417C-AA55-3355752AAE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43588" y="512763"/>
            <a:ext cx="5805487" cy="5688012"/>
          </a:xfrm>
          <a:custGeom>
            <a:avLst/>
            <a:gdLst>
              <a:gd name="connsiteX0" fmla="*/ 0 w 5805487"/>
              <a:gd name="connsiteY0" fmla="*/ 0 h 5688012"/>
              <a:gd name="connsiteX1" fmla="*/ 5805487 w 5805487"/>
              <a:gd name="connsiteY1" fmla="*/ 0 h 5688012"/>
              <a:gd name="connsiteX2" fmla="*/ 5805487 w 5805487"/>
              <a:gd name="connsiteY2" fmla="*/ 4597400 h 5688012"/>
              <a:gd name="connsiteX3" fmla="*/ 0 w 5805487"/>
              <a:gd name="connsiteY3" fmla="*/ 5688012 h 5688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05487" h="5688012">
                <a:moveTo>
                  <a:pt x="0" y="0"/>
                </a:moveTo>
                <a:lnTo>
                  <a:pt x="5805487" y="0"/>
                </a:lnTo>
                <a:lnTo>
                  <a:pt x="5805487" y="4597400"/>
                </a:lnTo>
                <a:lnTo>
                  <a:pt x="0" y="5688012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tIns="21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9178EE3C-2D53-4DE3-9CDF-8B5727B21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9" y="1663700"/>
            <a:ext cx="5110161" cy="453707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20000"/>
              <a:buFontTx/>
              <a:buNone/>
              <a:defRPr sz="2200"/>
            </a:lvl1pPr>
            <a:lvl2pPr marL="6858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2pPr>
            <a:lvl3pPr marL="11430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3pPr>
            <a:lvl4pPr marL="16002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4pPr>
            <a:lvl5pPr marL="20574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5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5" name="Titel 12">
            <a:extLst>
              <a:ext uri="{FF2B5EF4-FFF2-40B4-BE49-F238E27FC236}">
                <a16:creationId xmlns:a16="http://schemas.microsoft.com/office/drawing/2014/main" id="{5D82985D-5DE1-4A65-8DA2-CFEC6D66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512763"/>
            <a:ext cx="5110161" cy="1150937"/>
          </a:xfrm>
        </p:spPr>
        <p:txBody>
          <a:bodyPr wrap="square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3050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pagina 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2">
            <a:extLst>
              <a:ext uri="{FF2B5EF4-FFF2-40B4-BE49-F238E27FC236}">
                <a16:creationId xmlns:a16="http://schemas.microsoft.com/office/drawing/2014/main" id="{5D82985D-5DE1-4A65-8DA2-CFEC6D66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32" y="521647"/>
            <a:ext cx="11133136" cy="659453"/>
          </a:xfrm>
        </p:spPr>
        <p:txBody>
          <a:bodyPr wrap="square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4" name="Gelijkbenige driehoek 3">
            <a:extLst>
              <a:ext uri="{FF2B5EF4-FFF2-40B4-BE49-F238E27FC236}">
                <a16:creationId xmlns:a16="http://schemas.microsoft.com/office/drawing/2014/main" id="{2E0758F2-A80B-463E-A966-F090B2CA6C6C}"/>
              </a:ext>
            </a:extLst>
          </p:cNvPr>
          <p:cNvSpPr/>
          <p:nvPr userDrawn="1"/>
        </p:nvSpPr>
        <p:spPr>
          <a:xfrm>
            <a:off x="2466975" y="5000625"/>
            <a:ext cx="9725025" cy="1857375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807527CF-7177-4580-8B83-02AE857B7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1600200"/>
            <a:ext cx="11133137" cy="39243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61385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kolommen 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DD055634-2CB0-4EC8-AAD5-66337FC8AF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852738"/>
            <a:ext cx="12192000" cy="4005262"/>
          </a:xfrm>
          <a:custGeom>
            <a:avLst/>
            <a:gdLst>
              <a:gd name="connsiteX0" fmla="*/ 12191998 w 12192000"/>
              <a:gd name="connsiteY0" fmla="*/ 0 h 4005262"/>
              <a:gd name="connsiteX1" fmla="*/ 12192000 w 12192000"/>
              <a:gd name="connsiteY1" fmla="*/ 0 h 4005262"/>
              <a:gd name="connsiteX2" fmla="*/ 12192000 w 12192000"/>
              <a:gd name="connsiteY2" fmla="*/ 4005262 h 4005262"/>
              <a:gd name="connsiteX3" fmla="*/ 0 w 12192000"/>
              <a:gd name="connsiteY3" fmla="*/ 4005262 h 4005262"/>
              <a:gd name="connsiteX4" fmla="*/ 0 w 12192000"/>
              <a:gd name="connsiteY4" fmla="*/ 2305050 h 40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005262">
                <a:moveTo>
                  <a:pt x="12191998" y="0"/>
                </a:moveTo>
                <a:lnTo>
                  <a:pt x="12192000" y="0"/>
                </a:lnTo>
                <a:lnTo>
                  <a:pt x="12192000" y="4005262"/>
                </a:lnTo>
                <a:lnTo>
                  <a:pt x="0" y="4005262"/>
                </a:lnTo>
                <a:lnTo>
                  <a:pt x="0" y="230505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tIns="144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36FC53-CB8F-44F4-9722-7871CB6BC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512763"/>
            <a:ext cx="11133139" cy="6810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92007B8-F659-43E6-8EA0-5FEC95988A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5936" y="1190140"/>
            <a:ext cx="5327649" cy="165893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2F7F5B4-A959-459E-A6C2-67C4ED74CA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82505" y="1197460"/>
            <a:ext cx="5553075" cy="165893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34253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kolommen ty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9178EE3C-2D53-4DE3-9CDF-8B5727B21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1483593"/>
            <a:ext cx="5553075" cy="367419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20000"/>
              <a:buFontTx/>
              <a:buNone/>
              <a:defRPr sz="2200"/>
            </a:lvl1pPr>
            <a:lvl2pPr marL="6858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2pPr>
            <a:lvl3pPr marL="11430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3pPr>
            <a:lvl4pPr marL="16002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4pPr>
            <a:lvl5pPr marL="20574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5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5" name="Titel 12">
            <a:extLst>
              <a:ext uri="{FF2B5EF4-FFF2-40B4-BE49-F238E27FC236}">
                <a16:creationId xmlns:a16="http://schemas.microsoft.com/office/drawing/2014/main" id="{5D82985D-5DE1-4A65-8DA2-CFEC6D66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8" y="512763"/>
            <a:ext cx="11114087" cy="665504"/>
          </a:xfrm>
        </p:spPr>
        <p:txBody>
          <a:bodyPr wrap="square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8" name="Tijdelijke aanduiding voor tekst 16">
            <a:extLst>
              <a:ext uri="{FF2B5EF4-FFF2-40B4-BE49-F238E27FC236}">
                <a16:creationId xmlns:a16="http://schemas.microsoft.com/office/drawing/2014/main" id="{1FFA0E4B-3348-4743-BEE8-396DA86127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483592"/>
            <a:ext cx="5308600" cy="367419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20000"/>
              <a:buFontTx/>
              <a:buNone/>
              <a:defRPr sz="2200"/>
            </a:lvl1pPr>
            <a:lvl2pPr marL="6858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2pPr>
            <a:lvl3pPr marL="11430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3pPr>
            <a:lvl4pPr marL="16002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4pPr>
            <a:lvl5pPr marL="2057400" indent="-228600">
              <a:buClr>
                <a:schemeClr val="accent1"/>
              </a:buClr>
              <a:buSzPct val="120000"/>
              <a:buFont typeface="Calibri" panose="020F0502020204030204" pitchFamily="34" charset="0"/>
              <a:buChar char="❶"/>
              <a:defRPr/>
            </a:lvl5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E29B5385-488B-4D56-9160-9FBE162F291F}"/>
              </a:ext>
            </a:extLst>
          </p:cNvPr>
          <p:cNvSpPr/>
          <p:nvPr userDrawn="1"/>
        </p:nvSpPr>
        <p:spPr>
          <a:xfrm>
            <a:off x="2420471" y="4991549"/>
            <a:ext cx="9771529" cy="1866452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618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pagina type 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fbeelding">
            <a:extLst>
              <a:ext uri="{FF2B5EF4-FFF2-40B4-BE49-F238E27FC236}">
                <a16:creationId xmlns:a16="http://schemas.microsoft.com/office/drawing/2014/main" id="{93408A00-A8AF-411B-9FD8-8A1CDAF01E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59944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2340000"/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voettekst 4">
            <a:extLst>
              <a:ext uri="{FF2B5EF4-FFF2-40B4-BE49-F238E27FC236}">
                <a16:creationId xmlns:a16="http://schemas.microsoft.com/office/drawing/2014/main" id="{51D9AE73-C8F2-4E02-A4BF-47ACF67C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3787122"/>
            <a:ext cx="12192000" cy="3070878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8863672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eldpagina type 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fbeelding">
            <a:extLst>
              <a:ext uri="{FF2B5EF4-FFF2-40B4-BE49-F238E27FC236}">
                <a16:creationId xmlns:a16="http://schemas.microsoft.com/office/drawing/2014/main" id="{93408A00-A8AF-411B-9FD8-8A1CDAF01E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2880000"/>
          <a:lstStyle>
            <a:lvl1pPr marL="0" indent="0" algn="ctr"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8410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mpagina type 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media 3">
            <a:extLst>
              <a:ext uri="{FF2B5EF4-FFF2-40B4-BE49-F238E27FC236}">
                <a16:creationId xmlns:a16="http://schemas.microsoft.com/office/drawing/2014/main" id="{69E0BDF3-A7B9-4619-8D9B-487F9F50DBB3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tIns="2880000"/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 &lt; Klik op icoon om video in te voegen &gt;</a:t>
            </a:r>
          </a:p>
        </p:txBody>
      </p:sp>
    </p:spTree>
    <p:extLst>
      <p:ext uri="{BB962C8B-B14F-4D97-AF65-F5344CB8AC3E}">
        <p14:creationId xmlns:p14="http://schemas.microsoft.com/office/powerpoint/2010/main" val="7568147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lmpagina type 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media 10">
            <a:extLst>
              <a:ext uri="{FF2B5EF4-FFF2-40B4-BE49-F238E27FC236}">
                <a16:creationId xmlns:a16="http://schemas.microsoft.com/office/drawing/2014/main" id="{68A8FD0C-2B98-4E1B-989D-695A3C52C304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515938" y="1247775"/>
            <a:ext cx="9072562" cy="5076825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media wilt toevoegen</a:t>
            </a:r>
            <a:endParaRPr lang="nl-NL" dirty="0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1C0DCD24-C529-4104-BEA7-5573DABC6FA8}"/>
              </a:ext>
            </a:extLst>
          </p:cNvPr>
          <p:cNvSpPr/>
          <p:nvPr userDrawn="1"/>
        </p:nvSpPr>
        <p:spPr>
          <a:xfrm>
            <a:off x="0" y="2852737"/>
            <a:ext cx="12192000" cy="4005262"/>
          </a:xfrm>
          <a:custGeom>
            <a:avLst/>
            <a:gdLst>
              <a:gd name="connsiteX0" fmla="*/ 0 w 12192000"/>
              <a:gd name="connsiteY0" fmla="*/ 2305050 h 4005262"/>
              <a:gd name="connsiteX1" fmla="*/ 12192000 w 12192000"/>
              <a:gd name="connsiteY1" fmla="*/ 2305050 h 4005262"/>
              <a:gd name="connsiteX2" fmla="*/ 12192000 w 12192000"/>
              <a:gd name="connsiteY2" fmla="*/ 4005262 h 4005262"/>
              <a:gd name="connsiteX3" fmla="*/ 0 w 12192000"/>
              <a:gd name="connsiteY3" fmla="*/ 4005262 h 4005262"/>
              <a:gd name="connsiteX4" fmla="*/ 12192000 w 12192000"/>
              <a:gd name="connsiteY4" fmla="*/ 0 h 4005262"/>
              <a:gd name="connsiteX5" fmla="*/ 12192000 w 12192000"/>
              <a:gd name="connsiteY5" fmla="*/ 2304621 h 4005262"/>
              <a:gd name="connsiteX6" fmla="*/ 0 w 12192000"/>
              <a:gd name="connsiteY6" fmla="*/ 2304621 h 40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05262">
                <a:moveTo>
                  <a:pt x="0" y="2305050"/>
                </a:moveTo>
                <a:lnTo>
                  <a:pt x="12192000" y="2305050"/>
                </a:lnTo>
                <a:lnTo>
                  <a:pt x="12192000" y="4005262"/>
                </a:lnTo>
                <a:lnTo>
                  <a:pt x="0" y="4005262"/>
                </a:lnTo>
                <a:close/>
                <a:moveTo>
                  <a:pt x="12192000" y="0"/>
                </a:moveTo>
                <a:lnTo>
                  <a:pt x="12192000" y="2304621"/>
                </a:lnTo>
                <a:lnTo>
                  <a:pt x="0" y="23046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1147E29F-6958-44E4-AD6E-83612011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3"/>
            <a:ext cx="10515600" cy="59647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28457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jfers type 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1147E29F-6958-44E4-AD6E-83612011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512764"/>
            <a:ext cx="11133137" cy="59647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AFACDE8-A2AA-443D-8B0B-82A00D74FA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1300163"/>
            <a:ext cx="11133137" cy="80168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4B3A410-0734-475F-9B44-32D08C25DA73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15938" y="2300288"/>
            <a:ext cx="11133137" cy="390048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grafiek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39355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jfers typ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2">
            <a:extLst>
              <a:ext uri="{FF2B5EF4-FFF2-40B4-BE49-F238E27FC236}">
                <a16:creationId xmlns:a16="http://schemas.microsoft.com/office/drawing/2014/main" id="{5D82985D-5DE1-4A65-8DA2-CFEC6D66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3"/>
            <a:ext cx="11133136" cy="659453"/>
          </a:xfrm>
        </p:spPr>
        <p:txBody>
          <a:bodyPr wrap="square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4" name="Gelijkbenige driehoek 3">
            <a:extLst>
              <a:ext uri="{FF2B5EF4-FFF2-40B4-BE49-F238E27FC236}">
                <a16:creationId xmlns:a16="http://schemas.microsoft.com/office/drawing/2014/main" id="{2E0758F2-A80B-463E-A966-F090B2CA6C6C}"/>
              </a:ext>
            </a:extLst>
          </p:cNvPr>
          <p:cNvSpPr/>
          <p:nvPr userDrawn="1"/>
        </p:nvSpPr>
        <p:spPr>
          <a:xfrm>
            <a:off x="2466975" y="5000625"/>
            <a:ext cx="9725025" cy="1857375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grafiek 2">
            <a:extLst>
              <a:ext uri="{FF2B5EF4-FFF2-40B4-BE49-F238E27FC236}">
                <a16:creationId xmlns:a16="http://schemas.microsoft.com/office/drawing/2014/main" id="{DDF2F412-BBA5-4ED7-876E-A1AFE16140CB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5938" y="1423988"/>
            <a:ext cx="11133137" cy="37338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grafiek wilt toevoegen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8928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jfers type 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1C0DCD24-C529-4104-BEA7-5573DABC6FA8}"/>
              </a:ext>
            </a:extLst>
          </p:cNvPr>
          <p:cNvSpPr/>
          <p:nvPr userDrawn="1"/>
        </p:nvSpPr>
        <p:spPr>
          <a:xfrm>
            <a:off x="0" y="2852737"/>
            <a:ext cx="12192000" cy="4005262"/>
          </a:xfrm>
          <a:custGeom>
            <a:avLst/>
            <a:gdLst>
              <a:gd name="connsiteX0" fmla="*/ 0 w 12192000"/>
              <a:gd name="connsiteY0" fmla="*/ 2305050 h 4005262"/>
              <a:gd name="connsiteX1" fmla="*/ 12192000 w 12192000"/>
              <a:gd name="connsiteY1" fmla="*/ 2305050 h 4005262"/>
              <a:gd name="connsiteX2" fmla="*/ 12192000 w 12192000"/>
              <a:gd name="connsiteY2" fmla="*/ 4005262 h 4005262"/>
              <a:gd name="connsiteX3" fmla="*/ 0 w 12192000"/>
              <a:gd name="connsiteY3" fmla="*/ 4005262 h 4005262"/>
              <a:gd name="connsiteX4" fmla="*/ 12192000 w 12192000"/>
              <a:gd name="connsiteY4" fmla="*/ 0 h 4005262"/>
              <a:gd name="connsiteX5" fmla="*/ 12192000 w 12192000"/>
              <a:gd name="connsiteY5" fmla="*/ 2304621 h 4005262"/>
              <a:gd name="connsiteX6" fmla="*/ 0 w 12192000"/>
              <a:gd name="connsiteY6" fmla="*/ 2304621 h 4005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05262">
                <a:moveTo>
                  <a:pt x="0" y="2305050"/>
                </a:moveTo>
                <a:lnTo>
                  <a:pt x="12192000" y="2305050"/>
                </a:lnTo>
                <a:lnTo>
                  <a:pt x="12192000" y="4005262"/>
                </a:lnTo>
                <a:lnTo>
                  <a:pt x="0" y="4005262"/>
                </a:lnTo>
                <a:close/>
                <a:moveTo>
                  <a:pt x="12192000" y="0"/>
                </a:moveTo>
                <a:lnTo>
                  <a:pt x="12192000" y="2304621"/>
                </a:lnTo>
                <a:lnTo>
                  <a:pt x="0" y="230462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1147E29F-6958-44E4-AD6E-83612011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4"/>
            <a:ext cx="10515600" cy="59647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78E7B6-48F4-4F6F-8375-485CC7E682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1697037"/>
            <a:ext cx="3424237" cy="1731962"/>
          </a:xfrm>
          <a:solidFill>
            <a:schemeClr val="accent2"/>
          </a:solidFill>
        </p:spPr>
        <p:txBody>
          <a:bodyPr tIns="720000"/>
          <a:lstStyle>
            <a:lvl1pPr marL="0" indent="0" algn="ctr">
              <a:buNone/>
              <a:defRPr sz="6600" b="1">
                <a:solidFill>
                  <a:schemeClr val="accent1"/>
                </a:solidFill>
              </a:defRPr>
            </a:lvl1pPr>
            <a:lvl2pPr marL="342900" indent="-3429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nl-NL" dirty="0"/>
              <a:t>x%</a:t>
            </a:r>
          </a:p>
          <a:p>
            <a:pPr lvl="0"/>
            <a:endParaRPr lang="nl-NL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00628AE-EBA6-429D-A6AB-B97C81046D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3429000"/>
            <a:ext cx="3432175" cy="1200150"/>
          </a:xfrm>
          <a:solidFill>
            <a:schemeClr val="accent2"/>
          </a:solidFill>
        </p:spPr>
        <p:txBody>
          <a:bodyPr tIns="72000"/>
          <a:lstStyle>
            <a:lvl1pPr marL="0" indent="0" algn="ctr">
              <a:lnSpc>
                <a:spcPts val="2200"/>
              </a:lnSpc>
              <a:buNone/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13" name="Tijdelijke aanduiding voor tekst 4">
            <a:extLst>
              <a:ext uri="{FF2B5EF4-FFF2-40B4-BE49-F238E27FC236}">
                <a16:creationId xmlns:a16="http://schemas.microsoft.com/office/drawing/2014/main" id="{FBEB7304-D594-41B7-A5B1-DA0C83A885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0784" y="1697037"/>
            <a:ext cx="3424237" cy="1731962"/>
          </a:xfrm>
          <a:solidFill>
            <a:schemeClr val="accent2"/>
          </a:solidFill>
        </p:spPr>
        <p:txBody>
          <a:bodyPr tIns="720000"/>
          <a:lstStyle>
            <a:lvl1pPr marL="0" indent="0" algn="ctr">
              <a:buNone/>
              <a:defRPr sz="6600" b="1">
                <a:solidFill>
                  <a:schemeClr val="accent1"/>
                </a:solidFill>
              </a:defRPr>
            </a:lvl1pPr>
            <a:lvl2pPr marL="342900" indent="-3429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nl-NL" dirty="0"/>
              <a:t>x%</a:t>
            </a:r>
          </a:p>
          <a:p>
            <a:pPr lvl="0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B2135103-E11E-4818-8099-5249C59FD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784" y="3429000"/>
            <a:ext cx="3432175" cy="1200150"/>
          </a:xfrm>
          <a:solidFill>
            <a:schemeClr val="accent2"/>
          </a:solidFill>
        </p:spPr>
        <p:txBody>
          <a:bodyPr tIns="72000"/>
          <a:lstStyle>
            <a:lvl1pPr marL="0" indent="0" algn="ctr">
              <a:lnSpc>
                <a:spcPts val="2200"/>
              </a:lnSpc>
              <a:buNone/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  <p:sp>
        <p:nvSpPr>
          <p:cNvPr id="15" name="Tijdelijke aanduiding voor tekst 4">
            <a:extLst>
              <a:ext uri="{FF2B5EF4-FFF2-40B4-BE49-F238E27FC236}">
                <a16:creationId xmlns:a16="http://schemas.microsoft.com/office/drawing/2014/main" id="{DC391E09-8B5B-4777-BD54-04E9EAC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5631" y="1704974"/>
            <a:ext cx="3424237" cy="1731962"/>
          </a:xfrm>
          <a:solidFill>
            <a:schemeClr val="accent2"/>
          </a:solidFill>
        </p:spPr>
        <p:txBody>
          <a:bodyPr tIns="720000"/>
          <a:lstStyle>
            <a:lvl1pPr marL="0" indent="0" algn="ctr">
              <a:buNone/>
              <a:defRPr sz="6600" b="1">
                <a:solidFill>
                  <a:schemeClr val="accent1"/>
                </a:solidFill>
              </a:defRPr>
            </a:lvl1pPr>
            <a:lvl2pPr marL="342900" indent="-3429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nl-NL" dirty="0"/>
              <a:t>x%</a:t>
            </a:r>
          </a:p>
          <a:p>
            <a:pPr lvl="0"/>
            <a:endParaRPr lang="nl-NL" dirty="0"/>
          </a:p>
        </p:txBody>
      </p:sp>
      <p:sp>
        <p:nvSpPr>
          <p:cNvPr id="16" name="Tijdelijke aanduiding voor tekst 7">
            <a:extLst>
              <a:ext uri="{FF2B5EF4-FFF2-40B4-BE49-F238E27FC236}">
                <a16:creationId xmlns:a16="http://schemas.microsoft.com/office/drawing/2014/main" id="{3809205E-49B8-4397-9696-F6B4E785EE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25631" y="3436937"/>
            <a:ext cx="3432175" cy="1200150"/>
          </a:xfrm>
          <a:solidFill>
            <a:schemeClr val="accent2"/>
          </a:solidFill>
        </p:spPr>
        <p:txBody>
          <a:bodyPr tIns="72000"/>
          <a:lstStyle>
            <a:lvl1pPr marL="0" indent="0" algn="ctr">
              <a:lnSpc>
                <a:spcPts val="2200"/>
              </a:lnSpc>
              <a:buNone/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smtClean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238174795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verz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2">
            <a:extLst>
              <a:ext uri="{FF2B5EF4-FFF2-40B4-BE49-F238E27FC236}">
                <a16:creationId xmlns:a16="http://schemas.microsoft.com/office/drawing/2014/main" id="{5D82985D-5DE1-4A65-8DA2-CFEC6D66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5509"/>
            <a:ext cx="11133136" cy="659453"/>
          </a:xfrm>
        </p:spPr>
        <p:txBody>
          <a:bodyPr wrap="square">
            <a:no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CF0A01C8-7BA1-43D9-9243-8F6FFA97A4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1196546"/>
            <a:ext cx="3141662" cy="1924051"/>
          </a:xfrm>
          <a:custGeom>
            <a:avLst/>
            <a:gdLst>
              <a:gd name="connsiteX0" fmla="*/ 0 w 3141662"/>
              <a:gd name="connsiteY0" fmla="*/ 0 h 1924051"/>
              <a:gd name="connsiteX1" fmla="*/ 3141662 w 3141662"/>
              <a:gd name="connsiteY1" fmla="*/ 0 h 1924051"/>
              <a:gd name="connsiteX2" fmla="*/ 3141662 w 3141662"/>
              <a:gd name="connsiteY2" fmla="*/ 1619251 h 1924051"/>
              <a:gd name="connsiteX3" fmla="*/ 1 w 3141662"/>
              <a:gd name="connsiteY3" fmla="*/ 1924051 h 1924051"/>
              <a:gd name="connsiteX4" fmla="*/ 0 w 3141662"/>
              <a:gd name="connsiteY4" fmla="*/ 1924051 h 19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1662" h="1924051">
                <a:moveTo>
                  <a:pt x="0" y="0"/>
                </a:moveTo>
                <a:lnTo>
                  <a:pt x="3141662" y="0"/>
                </a:lnTo>
                <a:lnTo>
                  <a:pt x="3141662" y="1619251"/>
                </a:lnTo>
                <a:lnTo>
                  <a:pt x="1" y="1924051"/>
                </a:lnTo>
                <a:lnTo>
                  <a:pt x="0" y="19240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F7004B15-DB58-407C-8DE6-022BED3E34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507412" y="1209675"/>
            <a:ext cx="3141662" cy="1910922"/>
          </a:xfrm>
          <a:custGeom>
            <a:avLst/>
            <a:gdLst>
              <a:gd name="connsiteX0" fmla="*/ 0 w 3141662"/>
              <a:gd name="connsiteY0" fmla="*/ 0 h 1924051"/>
              <a:gd name="connsiteX1" fmla="*/ 3141662 w 3141662"/>
              <a:gd name="connsiteY1" fmla="*/ 0 h 1924051"/>
              <a:gd name="connsiteX2" fmla="*/ 3141662 w 3141662"/>
              <a:gd name="connsiteY2" fmla="*/ 1619251 h 1924051"/>
              <a:gd name="connsiteX3" fmla="*/ 1 w 3141662"/>
              <a:gd name="connsiteY3" fmla="*/ 1924051 h 1924051"/>
              <a:gd name="connsiteX4" fmla="*/ 0 w 3141662"/>
              <a:gd name="connsiteY4" fmla="*/ 1924051 h 19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1662" h="1924051">
                <a:moveTo>
                  <a:pt x="0" y="0"/>
                </a:moveTo>
                <a:lnTo>
                  <a:pt x="3141662" y="0"/>
                </a:lnTo>
                <a:lnTo>
                  <a:pt x="3141662" y="1619251"/>
                </a:lnTo>
                <a:lnTo>
                  <a:pt x="1" y="1924051"/>
                </a:lnTo>
                <a:lnTo>
                  <a:pt x="0" y="19240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E5E8905B-B84C-4076-8C5B-D4465E47A7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11675" y="1209675"/>
            <a:ext cx="3141662" cy="1924051"/>
          </a:xfrm>
          <a:custGeom>
            <a:avLst/>
            <a:gdLst>
              <a:gd name="connsiteX0" fmla="*/ 0 w 3141662"/>
              <a:gd name="connsiteY0" fmla="*/ 0 h 1924051"/>
              <a:gd name="connsiteX1" fmla="*/ 3141662 w 3141662"/>
              <a:gd name="connsiteY1" fmla="*/ 0 h 1924051"/>
              <a:gd name="connsiteX2" fmla="*/ 3141662 w 3141662"/>
              <a:gd name="connsiteY2" fmla="*/ 1619251 h 1924051"/>
              <a:gd name="connsiteX3" fmla="*/ 1 w 3141662"/>
              <a:gd name="connsiteY3" fmla="*/ 1924051 h 1924051"/>
              <a:gd name="connsiteX4" fmla="*/ 0 w 3141662"/>
              <a:gd name="connsiteY4" fmla="*/ 1924051 h 19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1662" h="1924051">
                <a:moveTo>
                  <a:pt x="0" y="0"/>
                </a:moveTo>
                <a:lnTo>
                  <a:pt x="3141662" y="0"/>
                </a:lnTo>
                <a:lnTo>
                  <a:pt x="3141662" y="1619251"/>
                </a:lnTo>
                <a:lnTo>
                  <a:pt x="1" y="1924051"/>
                </a:lnTo>
                <a:lnTo>
                  <a:pt x="0" y="19240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563A050E-3E56-4ABC-9B54-008731D59D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9" y="3958366"/>
            <a:ext cx="3141662" cy="1924051"/>
          </a:xfrm>
          <a:custGeom>
            <a:avLst/>
            <a:gdLst>
              <a:gd name="connsiteX0" fmla="*/ 0 w 3141662"/>
              <a:gd name="connsiteY0" fmla="*/ 0 h 1924051"/>
              <a:gd name="connsiteX1" fmla="*/ 3141662 w 3141662"/>
              <a:gd name="connsiteY1" fmla="*/ 0 h 1924051"/>
              <a:gd name="connsiteX2" fmla="*/ 3141662 w 3141662"/>
              <a:gd name="connsiteY2" fmla="*/ 1619251 h 1924051"/>
              <a:gd name="connsiteX3" fmla="*/ 1 w 3141662"/>
              <a:gd name="connsiteY3" fmla="*/ 1924051 h 1924051"/>
              <a:gd name="connsiteX4" fmla="*/ 0 w 3141662"/>
              <a:gd name="connsiteY4" fmla="*/ 1924051 h 19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1662" h="1924051">
                <a:moveTo>
                  <a:pt x="0" y="0"/>
                </a:moveTo>
                <a:lnTo>
                  <a:pt x="3141662" y="0"/>
                </a:lnTo>
                <a:lnTo>
                  <a:pt x="3141662" y="1619251"/>
                </a:lnTo>
                <a:lnTo>
                  <a:pt x="1" y="1924051"/>
                </a:lnTo>
                <a:lnTo>
                  <a:pt x="0" y="19240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2C4022C4-DC15-4977-9921-69A0A3BDFD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7413" y="3971495"/>
            <a:ext cx="3141662" cy="1910922"/>
          </a:xfrm>
          <a:custGeom>
            <a:avLst/>
            <a:gdLst>
              <a:gd name="connsiteX0" fmla="*/ 0 w 3141662"/>
              <a:gd name="connsiteY0" fmla="*/ 0 h 1924051"/>
              <a:gd name="connsiteX1" fmla="*/ 3141662 w 3141662"/>
              <a:gd name="connsiteY1" fmla="*/ 0 h 1924051"/>
              <a:gd name="connsiteX2" fmla="*/ 3141662 w 3141662"/>
              <a:gd name="connsiteY2" fmla="*/ 1619251 h 1924051"/>
              <a:gd name="connsiteX3" fmla="*/ 1 w 3141662"/>
              <a:gd name="connsiteY3" fmla="*/ 1924051 h 1924051"/>
              <a:gd name="connsiteX4" fmla="*/ 0 w 3141662"/>
              <a:gd name="connsiteY4" fmla="*/ 1924051 h 19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1662" h="1924051">
                <a:moveTo>
                  <a:pt x="0" y="0"/>
                </a:moveTo>
                <a:lnTo>
                  <a:pt x="3141662" y="0"/>
                </a:lnTo>
                <a:lnTo>
                  <a:pt x="3141662" y="1619251"/>
                </a:lnTo>
                <a:lnTo>
                  <a:pt x="1" y="1924051"/>
                </a:lnTo>
                <a:lnTo>
                  <a:pt x="0" y="19240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7E9ED050-2B54-40E5-896F-674CB3C76C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11676" y="3971495"/>
            <a:ext cx="3141662" cy="1924051"/>
          </a:xfrm>
          <a:custGeom>
            <a:avLst/>
            <a:gdLst>
              <a:gd name="connsiteX0" fmla="*/ 0 w 3141662"/>
              <a:gd name="connsiteY0" fmla="*/ 0 h 1924051"/>
              <a:gd name="connsiteX1" fmla="*/ 3141662 w 3141662"/>
              <a:gd name="connsiteY1" fmla="*/ 0 h 1924051"/>
              <a:gd name="connsiteX2" fmla="*/ 3141662 w 3141662"/>
              <a:gd name="connsiteY2" fmla="*/ 1619251 h 1924051"/>
              <a:gd name="connsiteX3" fmla="*/ 1 w 3141662"/>
              <a:gd name="connsiteY3" fmla="*/ 1924051 h 1924051"/>
              <a:gd name="connsiteX4" fmla="*/ 0 w 3141662"/>
              <a:gd name="connsiteY4" fmla="*/ 1924051 h 192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1662" h="1924051">
                <a:moveTo>
                  <a:pt x="0" y="0"/>
                </a:moveTo>
                <a:lnTo>
                  <a:pt x="3141662" y="0"/>
                </a:lnTo>
                <a:lnTo>
                  <a:pt x="3141662" y="1619251"/>
                </a:lnTo>
                <a:lnTo>
                  <a:pt x="1" y="1924051"/>
                </a:lnTo>
                <a:lnTo>
                  <a:pt x="0" y="192405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buClr>
                <a:schemeClr val="accent4"/>
              </a:buClr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1079AA63-CB86-46C2-840D-36695906B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2000" y="3284221"/>
            <a:ext cx="2895600" cy="289559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D2E962D8-EB74-4F0C-9ED8-BD77718B5E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00" y="3580764"/>
            <a:ext cx="2895600" cy="28955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3" name="Tijdelijke aanduiding voor tekst 13">
            <a:extLst>
              <a:ext uri="{FF2B5EF4-FFF2-40B4-BE49-F238E27FC236}">
                <a16:creationId xmlns:a16="http://schemas.microsoft.com/office/drawing/2014/main" id="{4B927890-80A8-4297-81D8-D690CF99E1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53474" y="3277237"/>
            <a:ext cx="2895600" cy="289559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B24DFC9F-05F4-4F97-AB98-66666E1FEE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53474" y="3573780"/>
            <a:ext cx="2895600" cy="28955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5" name="Tijdelijke aanduiding voor tekst 13">
            <a:extLst>
              <a:ext uri="{FF2B5EF4-FFF2-40B4-BE49-F238E27FC236}">
                <a16:creationId xmlns:a16="http://schemas.microsoft.com/office/drawing/2014/main" id="{34F9116D-49D3-4956-B56A-0A9E4D80BB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57737" y="3277237"/>
            <a:ext cx="2895600" cy="289559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26" name="Tijdelijke aanduiding voor tekst 15">
            <a:extLst>
              <a:ext uri="{FF2B5EF4-FFF2-40B4-BE49-F238E27FC236}">
                <a16:creationId xmlns:a16="http://schemas.microsoft.com/office/drawing/2014/main" id="{E46FFFD1-F223-4CE2-9747-BBBC7AE7F1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737" y="3573780"/>
            <a:ext cx="2895600" cy="28955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7" name="Tijdelijke aanduiding voor tekst 13">
            <a:extLst>
              <a:ext uri="{FF2B5EF4-FFF2-40B4-BE49-F238E27FC236}">
                <a16:creationId xmlns:a16="http://schemas.microsoft.com/office/drawing/2014/main" id="{2FAE3D01-D577-4357-8688-65CFA137271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977777"/>
            <a:ext cx="2895600" cy="289559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28" name="Tijdelijke aanduiding voor tekst 15">
            <a:extLst>
              <a:ext uri="{FF2B5EF4-FFF2-40B4-BE49-F238E27FC236}">
                <a16:creationId xmlns:a16="http://schemas.microsoft.com/office/drawing/2014/main" id="{BDFE9729-F836-436F-919F-58A0E4E355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000" y="6265983"/>
            <a:ext cx="2895600" cy="28955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9" name="Tijdelijke aanduiding voor tekst 13">
            <a:extLst>
              <a:ext uri="{FF2B5EF4-FFF2-40B4-BE49-F238E27FC236}">
                <a16:creationId xmlns:a16="http://schemas.microsoft.com/office/drawing/2014/main" id="{8D38A87F-A85F-48C5-8934-8CFEC2AD93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53474" y="5990573"/>
            <a:ext cx="2895600" cy="289559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3593945D-8B9B-4FB9-8F37-220DA19420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53475" y="6265588"/>
            <a:ext cx="2895600" cy="28955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31" name="Tijdelijke aanduiding voor tekst 13">
            <a:extLst>
              <a:ext uri="{FF2B5EF4-FFF2-40B4-BE49-F238E27FC236}">
                <a16:creationId xmlns:a16="http://schemas.microsoft.com/office/drawing/2014/main" id="{47D41BC7-9AA3-4EAA-91FE-E7F04FE633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57737" y="5976424"/>
            <a:ext cx="2895600" cy="289559"/>
          </a:xfr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nl-NL" dirty="0"/>
              <a:t>Naam Achternaam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562CF9C4-B235-4AC5-A60B-6625B78B27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7737" y="6279112"/>
            <a:ext cx="2895600" cy="28955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nl-NL" dirty="0"/>
              <a:t>Functie</a:t>
            </a:r>
          </a:p>
        </p:txBody>
      </p:sp>
    </p:spTree>
    <p:extLst>
      <p:ext uri="{BB962C8B-B14F-4D97-AF65-F5344CB8AC3E}">
        <p14:creationId xmlns:p14="http://schemas.microsoft.com/office/powerpoint/2010/main" val="2040954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fbeelding">
            <a:extLst>
              <a:ext uri="{FF2B5EF4-FFF2-40B4-BE49-F238E27FC236}">
                <a16:creationId xmlns:a16="http://schemas.microsoft.com/office/drawing/2014/main" id="{00B318B7-BE72-417D-893E-8261FA386A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65263"/>
            <a:ext cx="12192000" cy="539115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2016000"/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r>
              <a:rPr lang="nl-NL" smtClean="0"/>
              <a:t>Klik op het pictogram als u een afbeelding wilt toevoegen</a:t>
            </a:r>
            <a:endParaRPr lang="nl-NL" dirty="0"/>
          </a:p>
        </p:txBody>
      </p:sp>
      <p:sp>
        <p:nvSpPr>
          <p:cNvPr id="19" name="Golf">
            <a:extLst>
              <a:ext uri="{FF2B5EF4-FFF2-40B4-BE49-F238E27FC236}">
                <a16:creationId xmlns:a16="http://schemas.microsoft.com/office/drawing/2014/main" id="{708DD106-6DAB-4AFB-8501-0A39D032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"/>
            <a:ext cx="12192000" cy="3581399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13" name="Titel">
            <a:extLst>
              <a:ext uri="{FF2B5EF4-FFF2-40B4-BE49-F238E27FC236}">
                <a16:creationId xmlns:a16="http://schemas.microsoft.com/office/drawing/2014/main" id="{F88E0522-7C91-4F76-AB5B-6E931B797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08340"/>
            <a:ext cx="9183233" cy="705530"/>
          </a:xfr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Klik hier om een afsluiting te maken</a:t>
            </a:r>
          </a:p>
        </p:txBody>
      </p:sp>
    </p:spTree>
    <p:extLst>
      <p:ext uri="{BB962C8B-B14F-4D97-AF65-F5344CB8AC3E}">
        <p14:creationId xmlns:p14="http://schemas.microsoft.com/office/powerpoint/2010/main" val="309623594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70714DA-224D-4FAD-BABD-C8859399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512763"/>
            <a:ext cx="10515600" cy="13255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BD49233-79C8-40E2-B380-696BC7763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822452"/>
            <a:ext cx="10515600" cy="435133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35928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7" r:id="rId18"/>
    <p:sldLayoutId id="214748366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300" b="1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558000" indent="-18000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23" userDrawn="1">
          <p15:clr>
            <a:srgbClr val="F26B43"/>
          </p15:clr>
        </p15:guide>
        <p15:guide id="4" orient="horz" pos="1797" userDrawn="1">
          <p15:clr>
            <a:srgbClr val="F26B43"/>
          </p15:clr>
        </p15:guide>
        <p15:guide id="5" orient="horz" pos="3249" userDrawn="1">
          <p15:clr>
            <a:srgbClr val="F26B43"/>
          </p15:clr>
        </p15:guide>
        <p15:guide id="6" pos="4702" userDrawn="1">
          <p15:clr>
            <a:srgbClr val="F26B43"/>
          </p15:clr>
        </p15:guide>
        <p15:guide id="7" pos="7338" userDrawn="1">
          <p15:clr>
            <a:srgbClr val="F26B43"/>
          </p15:clr>
        </p15:guide>
        <p15:guide id="8" pos="3681" userDrawn="1">
          <p15:clr>
            <a:srgbClr val="F26B43"/>
          </p15:clr>
        </p15:guide>
        <p15:guide id="9" orient="horz" pos="3906" userDrawn="1">
          <p15:clr>
            <a:srgbClr val="F26B43"/>
          </p15:clr>
        </p15:guide>
        <p15:guide id="10" pos="60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B4FF1266-163B-4E06-9B08-1BF8C96D6E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F6C1A5C-1FBF-4857-A213-8385B7CE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E70EE74-90FE-4724-A9DF-29B018E4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nl-NL"/>
              <a:t> 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87D9514F-EF98-4692-A992-A7523D2EE0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smtClean="0"/>
              <a:t>Cas Thoonsen 09-02-2023</a:t>
            </a:r>
            <a:endParaRPr lang="nl-NL" dirty="0"/>
          </a:p>
        </p:txBody>
      </p:sp>
      <p:sp>
        <p:nvSpPr>
          <p:cNvPr id="13" name="Ondertitel 12">
            <a:extLst>
              <a:ext uri="{FF2B5EF4-FFF2-40B4-BE49-F238E27FC236}">
                <a16:creationId xmlns:a16="http://schemas.microsoft.com/office/drawing/2014/main" id="{73C94262-EF9D-4E9F-A3C2-13D219146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smtClean="0"/>
              <a:t>Automatiseren met API en FME</a:t>
            </a:r>
            <a:endParaRPr lang="nl-NL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0B5E48B1-7827-41C0-87BC-6157B4BF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HyDAMO</a:t>
            </a:r>
            <a:r>
              <a:rPr lang="nl-NL" dirty="0" smtClean="0"/>
              <a:t> Gebruikersmiddag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673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ijdelijke aanduiding voor teks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 smtClean="0"/>
              <a:t>Aanleiding WSRL</a:t>
            </a:r>
          </a:p>
          <a:p>
            <a:r>
              <a:rPr lang="nl-NL" dirty="0" smtClean="0"/>
              <a:t>Waarom automatisering met FME/API?</a:t>
            </a:r>
          </a:p>
          <a:p>
            <a:r>
              <a:rPr lang="nl-NL" dirty="0" smtClean="0"/>
              <a:t>Hoe aangepakt?</a:t>
            </a:r>
          </a:p>
          <a:p>
            <a:r>
              <a:rPr lang="nl-NL" dirty="0" smtClean="0"/>
              <a:t>De FME scripts: 01 t/m 05</a:t>
            </a:r>
          </a:p>
          <a:p>
            <a:r>
              <a:rPr lang="nl-NL" dirty="0" smtClean="0"/>
              <a:t>Vervolg</a:t>
            </a:r>
          </a:p>
          <a:p>
            <a:pPr indent="0">
              <a:buNone/>
            </a:pPr>
            <a:endParaRPr lang="nl-NL" dirty="0"/>
          </a:p>
          <a:p>
            <a:r>
              <a:rPr lang="nl-NL" dirty="0" smtClean="0"/>
              <a:t>Break out sessie 2: </a:t>
            </a:r>
            <a:r>
              <a:rPr lang="nl-NL" i="1" dirty="0" smtClean="0"/>
              <a:t>Automatiseren kun je leren</a:t>
            </a:r>
          </a:p>
          <a:p>
            <a:endParaRPr lang="nl-NL" dirty="0" smtClean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8697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Aanleiding WSRL</a:t>
            </a:r>
            <a:endParaRPr lang="nl-NL" dirty="0"/>
          </a:p>
        </p:txBody>
      </p:sp>
      <p:sp>
        <p:nvSpPr>
          <p:cNvPr id="6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7" y="1523791"/>
            <a:ext cx="11133137" cy="4502936"/>
          </a:xfrm>
        </p:spPr>
        <p:txBody>
          <a:bodyPr/>
          <a:lstStyle/>
          <a:p>
            <a:r>
              <a:rPr lang="nl-NL" dirty="0"/>
              <a:t>Onderdeel van project WSOO (</a:t>
            </a:r>
            <a:r>
              <a:rPr lang="nl-NL" dirty="0" err="1"/>
              <a:t>WaterSysteem</a:t>
            </a:r>
            <a:r>
              <a:rPr lang="nl-NL" dirty="0"/>
              <a:t> Op Orde</a:t>
            </a:r>
            <a:r>
              <a:rPr lang="nl-NL" dirty="0" smtClean="0"/>
              <a:t>)</a:t>
            </a:r>
          </a:p>
          <a:p>
            <a:pPr marL="702900" lvl="2" indent="-342900"/>
            <a:r>
              <a:rPr lang="nl-NL" dirty="0" smtClean="0"/>
              <a:t>Hoofddoel: toetsen van het hoofdwatersysteem</a:t>
            </a:r>
          </a:p>
          <a:p>
            <a:pPr marL="900900" lvl="3" indent="-342900"/>
            <a:r>
              <a:rPr lang="nl-NL" dirty="0" smtClean="0"/>
              <a:t>Inzicht creëren in de knelpunten en kansen in het watersysteem</a:t>
            </a:r>
          </a:p>
          <a:p>
            <a:pPr marL="702900" lvl="2" indent="-342900"/>
            <a:r>
              <a:rPr lang="nl-NL" dirty="0"/>
              <a:t>Nevendoel: data gereed en compleet maken voor modellering </a:t>
            </a:r>
            <a:endParaRPr lang="nl-NL" dirty="0" smtClean="0"/>
          </a:p>
          <a:p>
            <a:pPr marL="900900" lvl="3" indent="-342900"/>
            <a:r>
              <a:rPr lang="nl-NL" i="1" dirty="0"/>
              <a:t>meetopdrachten en verbeteringen in DAMO-database</a:t>
            </a:r>
          </a:p>
          <a:p>
            <a:pPr marL="900900" lvl="3" indent="-342900"/>
            <a:endParaRPr lang="nl-NL" dirty="0" smtClean="0"/>
          </a:p>
          <a:p>
            <a:pPr lvl="3" indent="0">
              <a:buNone/>
            </a:pPr>
            <a:r>
              <a:rPr lang="nl-NL" dirty="0">
                <a:sym typeface="Wingdings" panose="05000000000000000000" pitchFamily="2" charset="2"/>
              </a:rPr>
              <a:t>	</a:t>
            </a:r>
            <a:endParaRPr lang="nl-NL" dirty="0" smtClean="0"/>
          </a:p>
          <a:p>
            <a:r>
              <a:rPr lang="nl-NL" dirty="0" smtClean="0"/>
              <a:t>DAMO database als basis voor modellering van het watersysteem</a:t>
            </a:r>
          </a:p>
          <a:p>
            <a:pPr marL="702900" lvl="2" indent="-342900"/>
            <a:r>
              <a:rPr lang="nl-NL" dirty="0" smtClean="0"/>
              <a:t>D-HYDRO</a:t>
            </a:r>
          </a:p>
          <a:p>
            <a:pPr marL="702900" lvl="2" indent="-342900"/>
            <a:r>
              <a:rPr lang="nl-NL" dirty="0" smtClean="0"/>
              <a:t>Bijwerken van beheerregister en legger</a:t>
            </a:r>
          </a:p>
          <a:p>
            <a:pPr marL="702900" lvl="2" indent="-342900"/>
            <a:r>
              <a:rPr lang="nl-NL" dirty="0" smtClean="0"/>
              <a:t>Circulair modelleren</a:t>
            </a:r>
          </a:p>
          <a:p>
            <a:pPr marL="702900" lvl="2" indent="-342900"/>
            <a:endParaRPr lang="nl-NL" dirty="0"/>
          </a:p>
          <a:p>
            <a:pPr marL="702900" lvl="2" indent="-342900"/>
            <a:endParaRPr lang="nl-NL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433" y="4461459"/>
            <a:ext cx="5785657" cy="2129294"/>
          </a:xfrm>
          <a:prstGeom prst="rect">
            <a:avLst/>
          </a:prstGeom>
        </p:spPr>
      </p:pic>
      <p:sp>
        <p:nvSpPr>
          <p:cNvPr id="5" name="Tekstvak 4"/>
          <p:cNvSpPr txBox="1"/>
          <p:nvPr/>
        </p:nvSpPr>
        <p:spPr>
          <a:xfrm>
            <a:off x="7833606" y="6441284"/>
            <a:ext cx="3815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000" dirty="0"/>
              <a:t>Bron: https://www.nhi.nu/nl/index.php/uitvoering/actueel/hydamo/ </a:t>
            </a:r>
          </a:p>
        </p:txBody>
      </p:sp>
      <p:cxnSp>
        <p:nvCxnSpPr>
          <p:cNvPr id="8" name="Gebogen verbindingslijn 7"/>
          <p:cNvCxnSpPr/>
          <p:nvPr/>
        </p:nvCxnSpPr>
        <p:spPr>
          <a:xfrm rot="5400000">
            <a:off x="179448" y="3116506"/>
            <a:ext cx="919043" cy="398463"/>
          </a:xfrm>
          <a:prstGeom prst="bentConnector4">
            <a:avLst>
              <a:gd name="adj1" fmla="val -178"/>
              <a:gd name="adj2" fmla="val 157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45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Waarom automatisering met </a:t>
            </a:r>
            <a:r>
              <a:rPr lang="nl-NL" dirty="0" smtClean="0"/>
              <a:t>FME/API</a:t>
            </a:r>
            <a:r>
              <a:rPr lang="nl-NL" dirty="0" smtClean="0"/>
              <a:t>?</a:t>
            </a:r>
            <a:endParaRPr lang="nl-NL" dirty="0"/>
          </a:p>
        </p:txBody>
      </p:sp>
      <p:sp>
        <p:nvSpPr>
          <p:cNvPr id="4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5" y="1324285"/>
            <a:ext cx="11133137" cy="4502936"/>
          </a:xfrm>
        </p:spPr>
        <p:txBody>
          <a:bodyPr/>
          <a:lstStyle/>
          <a:p>
            <a:r>
              <a:rPr lang="nl-NL" dirty="0" smtClean="0"/>
              <a:t>Draaien per deelstroomgebied→ herhaling van proces → doorlopend proces</a:t>
            </a:r>
            <a:endParaRPr lang="nl-NL" dirty="0" smtClean="0"/>
          </a:p>
          <a:p>
            <a:r>
              <a:rPr lang="nl-NL" dirty="0" smtClean="0"/>
              <a:t>FME </a:t>
            </a:r>
            <a:r>
              <a:rPr lang="nl-NL" dirty="0" smtClean="0"/>
              <a:t>Server integratie</a:t>
            </a:r>
          </a:p>
          <a:p>
            <a:pPr marL="702900" lvl="2" indent="-342900"/>
            <a:r>
              <a:rPr lang="nl-NL" dirty="0" smtClean="0"/>
              <a:t>Maar: API kan nog geen pushmeldingen uitsturen, dus </a:t>
            </a:r>
            <a:r>
              <a:rPr lang="nl-NL" dirty="0" err="1" smtClean="0"/>
              <a:t>webhook</a:t>
            </a:r>
            <a:r>
              <a:rPr lang="nl-NL" dirty="0" smtClean="0"/>
              <a:t> op </a:t>
            </a:r>
            <a:r>
              <a:rPr lang="nl-NL" dirty="0" err="1" smtClean="0"/>
              <a:t>fme</a:t>
            </a:r>
            <a:r>
              <a:rPr lang="nl-NL" dirty="0" smtClean="0"/>
              <a:t>-server nog niet mogelijk</a:t>
            </a:r>
          </a:p>
          <a:p>
            <a:r>
              <a:rPr lang="nl-NL" dirty="0" smtClean="0"/>
              <a:t>Automatische </a:t>
            </a:r>
            <a:r>
              <a:rPr lang="nl-NL" dirty="0" smtClean="0"/>
              <a:t>authenticatie </a:t>
            </a:r>
            <a:endParaRPr lang="nl-NL" dirty="0" smtClean="0"/>
          </a:p>
          <a:p>
            <a:r>
              <a:rPr lang="nl-NL" dirty="0"/>
              <a:t>Resultaten als </a:t>
            </a:r>
            <a:r>
              <a:rPr lang="nl-NL" dirty="0" err="1" smtClean="0"/>
              <a:t>geopackage</a:t>
            </a:r>
            <a:endParaRPr lang="nl-NL" dirty="0" smtClean="0"/>
          </a:p>
          <a:p>
            <a:r>
              <a:rPr lang="nl-NL" dirty="0" smtClean="0"/>
              <a:t>Uitgebreidere metadata/foutherkenning</a:t>
            </a:r>
          </a:p>
          <a:p>
            <a:pPr marL="702900" lvl="2" indent="-342900"/>
            <a:r>
              <a:rPr lang="nl-NL" dirty="0" smtClean="0"/>
              <a:t>Per object </a:t>
            </a:r>
            <a:r>
              <a:rPr lang="nl-NL" dirty="0" smtClean="0"/>
              <a:t>vs. </a:t>
            </a:r>
            <a:r>
              <a:rPr lang="nl-NL" dirty="0" smtClean="0"/>
              <a:t>hele taak in twee bestanden</a:t>
            </a:r>
            <a:endParaRPr lang="nl-NL" dirty="0"/>
          </a:p>
          <a:p>
            <a:endParaRPr lang="nl-NL" dirty="0" smtClean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65" y="5360776"/>
            <a:ext cx="5430082" cy="503107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35" y="4857341"/>
            <a:ext cx="5234016" cy="1509976"/>
          </a:xfrm>
          <a:prstGeom prst="rect">
            <a:avLst/>
          </a:prstGeom>
        </p:spPr>
      </p:pic>
      <p:sp>
        <p:nvSpPr>
          <p:cNvPr id="3" name="Tekstvak 2"/>
          <p:cNvSpPr txBox="1"/>
          <p:nvPr/>
        </p:nvSpPr>
        <p:spPr>
          <a:xfrm>
            <a:off x="5958072" y="5427664"/>
            <a:ext cx="47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VS.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765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56" y="1880465"/>
            <a:ext cx="10985555" cy="424732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Hoe aangepakt?</a:t>
            </a:r>
            <a:endParaRPr lang="nl-NL" dirty="0"/>
          </a:p>
        </p:txBody>
      </p:sp>
      <p:sp>
        <p:nvSpPr>
          <p:cNvPr id="4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7" y="1523791"/>
            <a:ext cx="11133137" cy="4502936"/>
          </a:xfrm>
        </p:spPr>
        <p:txBody>
          <a:bodyPr/>
          <a:lstStyle/>
          <a:p>
            <a:r>
              <a:rPr lang="nl-NL" dirty="0" smtClean="0"/>
              <a:t>Modulair opgebouwd (</a:t>
            </a:r>
            <a:r>
              <a:rPr lang="nl-NL" dirty="0" err="1" smtClean="0"/>
              <a:t>Separation</a:t>
            </a:r>
            <a:r>
              <a:rPr lang="nl-NL" dirty="0" smtClean="0"/>
              <a:t> of concerns)</a:t>
            </a:r>
          </a:p>
        </p:txBody>
      </p:sp>
      <p:sp>
        <p:nvSpPr>
          <p:cNvPr id="5" name="Tekstvak 4"/>
          <p:cNvSpPr txBox="1"/>
          <p:nvPr/>
        </p:nvSpPr>
        <p:spPr>
          <a:xfrm>
            <a:off x="152400" y="5994437"/>
            <a:ext cx="1914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Deelstroomgebied</a:t>
            </a:r>
          </a:p>
          <a:p>
            <a:r>
              <a:rPr lang="nl-NL" dirty="0" smtClean="0"/>
              <a:t>Geometrie</a:t>
            </a:r>
            <a:endParaRPr lang="nl-NL" dirty="0"/>
          </a:p>
        </p:txBody>
      </p:sp>
      <p:cxnSp>
        <p:nvCxnSpPr>
          <p:cNvPr id="7" name="Rechte verbindingslijn 6"/>
          <p:cNvCxnSpPr/>
          <p:nvPr/>
        </p:nvCxnSpPr>
        <p:spPr>
          <a:xfrm flipV="1">
            <a:off x="1042782" y="5471065"/>
            <a:ext cx="366918" cy="555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01_GeopackageMaker</a:t>
            </a:r>
            <a:endParaRPr lang="nl-NL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4029"/>
            <a:ext cx="12192000" cy="4183971"/>
          </a:xfrm>
          <a:prstGeom prst="rect">
            <a:avLst/>
          </a:prstGeom>
        </p:spPr>
      </p:pic>
      <p:sp>
        <p:nvSpPr>
          <p:cNvPr id="6" name="Tekstvak 5"/>
          <p:cNvSpPr txBox="1"/>
          <p:nvPr/>
        </p:nvSpPr>
        <p:spPr>
          <a:xfrm>
            <a:off x="1920240" y="2044931"/>
            <a:ext cx="26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1. Selecteer stroomgebied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5896494" y="2044931"/>
            <a:ext cx="23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  <a:r>
              <a:rPr lang="nl-NL" dirty="0" smtClean="0"/>
              <a:t>. Lees DAMO objecten</a:t>
            </a:r>
            <a:endParaRPr lang="nl-NL" dirty="0"/>
          </a:p>
        </p:txBody>
      </p:sp>
      <p:sp>
        <p:nvSpPr>
          <p:cNvPr id="8" name="Tekstvak 7"/>
          <p:cNvSpPr txBox="1"/>
          <p:nvPr/>
        </p:nvSpPr>
        <p:spPr>
          <a:xfrm>
            <a:off x="9781309" y="2046717"/>
            <a:ext cx="2029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/>
              <a:t>3. Schrijf naar .</a:t>
            </a:r>
            <a:r>
              <a:rPr lang="nl-NL" dirty="0" err="1" smtClean="0"/>
              <a:t>gpkg</a:t>
            </a:r>
            <a:endParaRPr lang="nl-NL" dirty="0"/>
          </a:p>
        </p:txBody>
      </p:sp>
      <p:sp>
        <p:nvSpPr>
          <p:cNvPr id="9" name="Tekstvak 8"/>
          <p:cNvSpPr txBox="1"/>
          <p:nvPr/>
        </p:nvSpPr>
        <p:spPr>
          <a:xfrm>
            <a:off x="515937" y="5647114"/>
            <a:ext cx="4272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smtClean="0">
                <a:solidFill>
                  <a:schemeClr val="bg1"/>
                </a:solidFill>
              </a:rPr>
              <a:t>2.1 Lees pomp apart (geen puntgeometrie)</a:t>
            </a:r>
            <a:endParaRPr lang="nl-NL" dirty="0">
              <a:solidFill>
                <a:schemeClr val="bg1"/>
              </a:solidFill>
            </a:endParaRPr>
          </a:p>
        </p:txBody>
      </p:sp>
      <p:cxnSp>
        <p:nvCxnSpPr>
          <p:cNvPr id="5" name="Rechte verbindingslijn 4"/>
          <p:cNvCxnSpPr/>
          <p:nvPr/>
        </p:nvCxnSpPr>
        <p:spPr>
          <a:xfrm flipH="1">
            <a:off x="2476500" y="2414263"/>
            <a:ext cx="590550" cy="50991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Rechte verbindingslijn 10"/>
          <p:cNvCxnSpPr/>
          <p:nvPr/>
        </p:nvCxnSpPr>
        <p:spPr>
          <a:xfrm>
            <a:off x="6943725" y="2486025"/>
            <a:ext cx="57150" cy="81915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Rechte verbindingslijn 12"/>
          <p:cNvCxnSpPr>
            <a:stCxn id="8" idx="2"/>
          </p:cNvCxnSpPr>
          <p:nvPr/>
        </p:nvCxnSpPr>
        <p:spPr>
          <a:xfrm>
            <a:off x="10795818" y="2416049"/>
            <a:ext cx="453207" cy="97485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202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02_WasmachineHyDAMO</a:t>
            </a:r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3"/>
          <a:srcRect t="4813"/>
          <a:stretch/>
        </p:blipFill>
        <p:spPr>
          <a:xfrm>
            <a:off x="0" y="1955800"/>
            <a:ext cx="10553857" cy="4902200"/>
          </a:xfrm>
          <a:prstGeom prst="rect">
            <a:avLst/>
          </a:prstGeom>
        </p:spPr>
      </p:pic>
      <p:sp>
        <p:nvSpPr>
          <p:cNvPr id="10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7" y="1523791"/>
            <a:ext cx="11133137" cy="4502936"/>
          </a:xfrm>
        </p:spPr>
        <p:txBody>
          <a:bodyPr/>
          <a:lstStyle/>
          <a:p>
            <a:r>
              <a:rPr lang="nl-NL" dirty="0" smtClean="0"/>
              <a:t>Standaard gehouden </a:t>
            </a:r>
            <a:r>
              <a:rPr lang="nl-NL" dirty="0" err="1" smtClean="0"/>
              <a:t>ivm</a:t>
            </a:r>
            <a:r>
              <a:rPr lang="nl-NL" dirty="0" smtClean="0"/>
              <a:t> </a:t>
            </a:r>
            <a:r>
              <a:rPr lang="nl-NL" dirty="0" smtClean="0"/>
              <a:t>mogelijke updates</a:t>
            </a:r>
          </a:p>
        </p:txBody>
      </p:sp>
      <p:sp>
        <p:nvSpPr>
          <p:cNvPr id="3" name="Tekstvak 2"/>
          <p:cNvSpPr txBox="1"/>
          <p:nvPr/>
        </p:nvSpPr>
        <p:spPr>
          <a:xfrm>
            <a:off x="7820025" y="5380672"/>
            <a:ext cx="4235262" cy="147732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nl-NL" dirty="0" smtClean="0"/>
              <a:t>Inladen DAMO data (.</a:t>
            </a:r>
            <a:r>
              <a:rPr lang="nl-NL" dirty="0" err="1" smtClean="0"/>
              <a:t>gpkg</a:t>
            </a:r>
            <a:r>
              <a:rPr lang="nl-NL" dirty="0" smtClean="0"/>
              <a:t>/.</a:t>
            </a:r>
            <a:r>
              <a:rPr lang="nl-NL" dirty="0" err="1" smtClean="0"/>
              <a:t>gdb</a:t>
            </a:r>
            <a:r>
              <a:rPr lang="nl-NL" dirty="0" smtClean="0"/>
              <a:t>)</a:t>
            </a:r>
          </a:p>
          <a:p>
            <a:pPr marL="342900" indent="-342900">
              <a:buAutoNum type="arabicPeriod"/>
            </a:pPr>
            <a:r>
              <a:rPr lang="nl-NL" dirty="0" smtClean="0"/>
              <a:t>Voegt NEN3610ID toe</a:t>
            </a:r>
          </a:p>
          <a:p>
            <a:pPr marL="342900" indent="-342900">
              <a:buAutoNum type="arabicPeriod"/>
            </a:pPr>
            <a:r>
              <a:rPr lang="nl-NL" dirty="0" smtClean="0"/>
              <a:t>Vertaalt domeinen naar omschrijvingen</a:t>
            </a:r>
          </a:p>
          <a:p>
            <a:pPr marL="342900" indent="-342900">
              <a:buAutoNum type="arabicPeriod"/>
            </a:pPr>
            <a:r>
              <a:rPr lang="nl-NL" dirty="0" smtClean="0"/>
              <a:t>Schrijft weg conform DAMO 2.2</a:t>
            </a:r>
          </a:p>
          <a:p>
            <a:pPr marL="342900" indent="-342900"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14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03_API_StartModule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7" y="1523791"/>
            <a:ext cx="11133137" cy="4502936"/>
          </a:xfrm>
        </p:spPr>
        <p:txBody>
          <a:bodyPr/>
          <a:lstStyle/>
          <a:p>
            <a:r>
              <a:rPr lang="nl-NL" dirty="0" err="1" smtClean="0"/>
              <a:t>PythonCaller</a:t>
            </a:r>
            <a:endParaRPr lang="nl-NL" dirty="0" smtClean="0"/>
          </a:p>
          <a:p>
            <a:endParaRPr lang="nl-NL" dirty="0"/>
          </a:p>
          <a:p>
            <a:r>
              <a:rPr lang="nl-NL" dirty="0" smtClean="0"/>
              <a:t>Stappen Python (volgens Wiki):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Informatie API </a:t>
            </a:r>
            <a:r>
              <a:rPr lang="nl-NL" dirty="0" smtClean="0"/>
              <a:t>opvragen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Inloggen/</a:t>
            </a:r>
            <a:r>
              <a:rPr lang="nl-NL" dirty="0" err="1" smtClean="0"/>
              <a:t>authenticeren</a:t>
            </a: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Nieuwe taak aanmaken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Dataset toevoegen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Validatieregels toevoegen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Status </a:t>
            </a:r>
            <a:r>
              <a:rPr lang="nl-NL" dirty="0" smtClean="0"/>
              <a:t>taak controleren</a:t>
            </a: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r>
              <a:rPr lang="nl-NL" dirty="0" smtClean="0"/>
              <a:t>Taak starten</a:t>
            </a:r>
          </a:p>
          <a:p>
            <a:pPr marL="457200" indent="-457200">
              <a:buFont typeface="+mj-lt"/>
              <a:buAutoNum type="arabicPeriod"/>
            </a:pP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endParaRPr lang="nl-NL" dirty="0"/>
          </a:p>
          <a:p>
            <a:pPr marL="457200" indent="-457200">
              <a:buFont typeface="+mj-lt"/>
              <a:buAutoNum type="arabicPeriod"/>
            </a:pPr>
            <a:endParaRPr lang="nl-NL" dirty="0" smtClean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3"/>
          <a:srcRect l="11217" t="39384" r="5145" b="15241"/>
          <a:stretch/>
        </p:blipFill>
        <p:spPr>
          <a:xfrm>
            <a:off x="7077072" y="1964366"/>
            <a:ext cx="4572002" cy="858282"/>
          </a:xfrm>
          <a:prstGeom prst="rect">
            <a:avLst/>
          </a:prstGeom>
        </p:spPr>
      </p:pic>
      <p:grpSp>
        <p:nvGrpSpPr>
          <p:cNvPr id="7" name="Groep 6"/>
          <p:cNvGrpSpPr/>
          <p:nvPr/>
        </p:nvGrpSpPr>
        <p:grpSpPr>
          <a:xfrm>
            <a:off x="5980908" y="3190658"/>
            <a:ext cx="5668166" cy="3105583"/>
            <a:chOff x="5980908" y="3190658"/>
            <a:chExt cx="5668166" cy="3105583"/>
          </a:xfrm>
        </p:grpSpPr>
        <p:pic>
          <p:nvPicPr>
            <p:cNvPr id="5" name="Afbeelding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0908" y="3190658"/>
              <a:ext cx="5668166" cy="3105583"/>
            </a:xfrm>
            <a:prstGeom prst="rect">
              <a:avLst/>
            </a:prstGeom>
          </p:spPr>
        </p:pic>
        <p:sp>
          <p:nvSpPr>
            <p:cNvPr id="6" name="Rechthoek 5"/>
            <p:cNvSpPr/>
            <p:nvPr/>
          </p:nvSpPr>
          <p:spPr>
            <a:xfrm>
              <a:off x="8670131" y="3895725"/>
              <a:ext cx="1121569" cy="171450"/>
            </a:xfrm>
            <a:prstGeom prst="rect">
              <a:avLst/>
            </a:pr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59217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04_API_DownloadModule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7" y="1523791"/>
            <a:ext cx="11133137" cy="4502936"/>
          </a:xfrm>
        </p:spPr>
        <p:txBody>
          <a:bodyPr/>
          <a:lstStyle/>
          <a:p>
            <a:r>
              <a:rPr lang="nl-NL" dirty="0" err="1" smtClean="0"/>
              <a:t>PythonCaller</a:t>
            </a:r>
            <a:r>
              <a:rPr lang="nl-NL" dirty="0" smtClean="0"/>
              <a:t> → schrijf naar </a:t>
            </a:r>
            <a:r>
              <a:rPr lang="nl-NL" dirty="0" err="1" smtClean="0"/>
              <a:t>geopackage</a:t>
            </a:r>
            <a:endParaRPr lang="nl-NL" dirty="0" smtClean="0">
              <a:solidFill>
                <a:srgbClr val="FF0000"/>
              </a:solidFill>
            </a:endParaRPr>
          </a:p>
          <a:p>
            <a:r>
              <a:rPr lang="nl-NL" dirty="0" smtClean="0"/>
              <a:t>Volgende dag</a:t>
            </a:r>
          </a:p>
          <a:p>
            <a:endParaRPr lang="nl-NL" dirty="0"/>
          </a:p>
          <a:p>
            <a:r>
              <a:rPr lang="nl-NL" dirty="0" smtClean="0"/>
              <a:t>Stappen Python (volgens Wiki):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Informatie API opvragen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Authenticatie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Lijst taken opvragen voor </a:t>
            </a:r>
            <a:r>
              <a:rPr lang="nl-NL" dirty="0" err="1" smtClean="0"/>
              <a:t>task_id</a:t>
            </a:r>
            <a:endParaRPr lang="nl-NL" dirty="0" smtClean="0"/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Informatie Taak opvragen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Status controleren (periodiek als niet ‘</a:t>
            </a:r>
            <a:r>
              <a:rPr lang="nl-NL" dirty="0" err="1" smtClean="0"/>
              <a:t>finished</a:t>
            </a:r>
            <a:r>
              <a:rPr lang="nl-NL" dirty="0" smtClean="0"/>
              <a:t>’ of ‘error’)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Download metadata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Download .</a:t>
            </a:r>
            <a:r>
              <a:rPr lang="nl-NL" dirty="0" err="1" smtClean="0"/>
              <a:t>csv’s</a:t>
            </a:r>
            <a:r>
              <a:rPr lang="nl-NL" dirty="0" smtClean="0"/>
              <a:t> (list)</a:t>
            </a:r>
          </a:p>
          <a:p>
            <a:pPr marL="277200" indent="-457200">
              <a:buFont typeface="+mj-lt"/>
              <a:buAutoNum type="arabicPeriod"/>
            </a:pPr>
            <a:r>
              <a:rPr lang="nl-NL" dirty="0" smtClean="0"/>
              <a:t>Download .</a:t>
            </a:r>
            <a:r>
              <a:rPr lang="nl-NL" dirty="0" err="1" smtClean="0"/>
              <a:t>gpkg</a:t>
            </a:r>
            <a:endParaRPr lang="nl-NL" dirty="0" smtClean="0"/>
          </a:p>
          <a:p>
            <a:pPr marL="277200" indent="-457200">
              <a:buFont typeface="+mj-lt"/>
              <a:buAutoNum type="arabicPeriod"/>
            </a:pPr>
            <a:endParaRPr lang="nl-NL" dirty="0" smtClean="0"/>
          </a:p>
          <a:p>
            <a:pPr marL="277200" indent="-457200">
              <a:buFont typeface="+mj-lt"/>
              <a:buAutoNum type="arabicPeriod"/>
            </a:pP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endParaRPr lang="nl-NL" dirty="0"/>
          </a:p>
          <a:p>
            <a:pPr marL="457200" indent="-457200">
              <a:buFont typeface="+mj-lt"/>
              <a:buAutoNum type="arabicPeriod"/>
            </a:pPr>
            <a:endParaRPr lang="nl-NL" dirty="0" smtClean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3"/>
          <a:srcRect l="4879" t="16427" r="4358" b="5772"/>
          <a:stretch/>
        </p:blipFill>
        <p:spPr>
          <a:xfrm>
            <a:off x="5861539" y="1299007"/>
            <a:ext cx="6034522" cy="2382040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843" y="3905831"/>
            <a:ext cx="4234218" cy="238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7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05_ObjectAnalysis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6" y="1299347"/>
            <a:ext cx="11133137" cy="4502936"/>
          </a:xfrm>
        </p:spPr>
        <p:txBody>
          <a:bodyPr/>
          <a:lstStyle/>
          <a:p>
            <a:r>
              <a:rPr lang="nl-NL" dirty="0" smtClean="0"/>
              <a:t>Verdere Filtering en tests: Duikersifonhevel en </a:t>
            </a:r>
            <a:r>
              <a:rPr lang="nl-NL" dirty="0" err="1" smtClean="0"/>
              <a:t>HydroObject</a:t>
            </a:r>
            <a:endParaRPr lang="nl-NL" dirty="0" smtClean="0"/>
          </a:p>
          <a:p>
            <a:pPr marL="702900" lvl="2" indent="-342900"/>
            <a:r>
              <a:rPr lang="nl-NL" dirty="0"/>
              <a:t>Specifiek voor Waterschap Rivierenland</a:t>
            </a:r>
          </a:p>
          <a:p>
            <a:pPr marL="702900" lvl="2" indent="-342900"/>
            <a:r>
              <a:rPr lang="nl-NL" dirty="0" smtClean="0"/>
              <a:t>Bijv. Afstand </a:t>
            </a:r>
            <a:r>
              <a:rPr lang="nl-NL" dirty="0" smtClean="0"/>
              <a:t>DSH-HO &gt; </a:t>
            </a:r>
            <a:r>
              <a:rPr lang="nl-NL" dirty="0"/>
              <a:t>0.6m, Test op </a:t>
            </a:r>
            <a:r>
              <a:rPr lang="nl-NL" dirty="0" err="1" smtClean="0"/>
              <a:t>dubbelingen</a:t>
            </a:r>
            <a:endParaRPr lang="nl-NL" dirty="0" smtClean="0"/>
          </a:p>
          <a:p>
            <a:pPr marL="702900" lvl="2" indent="-342900"/>
            <a:r>
              <a:rPr lang="nl-NL" dirty="0" smtClean="0"/>
              <a:t>Toevoegen </a:t>
            </a:r>
            <a:r>
              <a:rPr lang="nl-NL" dirty="0" smtClean="0"/>
              <a:t>‘opmerking’ attribuut voor mutatie</a:t>
            </a:r>
            <a:endParaRPr lang="nl-NL" dirty="0"/>
          </a:p>
          <a:p>
            <a:endParaRPr lang="nl-NL" dirty="0">
              <a:solidFill>
                <a:srgbClr val="FF0000"/>
              </a:solidFill>
            </a:endParaRPr>
          </a:p>
          <a:p>
            <a:endParaRPr lang="nl-NL" dirty="0" smtClean="0">
              <a:solidFill>
                <a:srgbClr val="FF0000"/>
              </a:solidFill>
            </a:endParaRPr>
          </a:p>
          <a:p>
            <a:endParaRPr lang="nl-NL" dirty="0" smtClean="0">
              <a:solidFill>
                <a:srgbClr val="FF0000"/>
              </a:solidFill>
            </a:endParaRPr>
          </a:p>
          <a:p>
            <a:pPr marL="277200" indent="-457200">
              <a:buFont typeface="+mj-lt"/>
              <a:buAutoNum type="arabicPeriod"/>
            </a:pPr>
            <a:endParaRPr lang="nl-NL" dirty="0" smtClean="0"/>
          </a:p>
          <a:p>
            <a:pPr marL="277200" indent="-457200">
              <a:buFont typeface="+mj-lt"/>
              <a:buAutoNum type="arabicPeriod"/>
            </a:pP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endParaRPr lang="nl-NL" dirty="0" smtClean="0"/>
          </a:p>
          <a:p>
            <a:pPr marL="457200" indent="-457200">
              <a:buFont typeface="+mj-lt"/>
              <a:buAutoNum type="arabicPeriod"/>
            </a:pPr>
            <a:endParaRPr lang="nl-NL" dirty="0"/>
          </a:p>
          <a:p>
            <a:pPr marL="457200" indent="-457200">
              <a:buFont typeface="+mj-lt"/>
              <a:buAutoNum type="arabicPeriod"/>
            </a:pPr>
            <a:endParaRPr lang="nl-NL" dirty="0" smtClean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876205"/>
            <a:ext cx="12194723" cy="39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0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E42D1-8B3A-47A7-BE75-9757A758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Vervolg</a:t>
            </a:r>
            <a:endParaRPr lang="nl-NL" dirty="0"/>
          </a:p>
        </p:txBody>
      </p:sp>
      <p:sp>
        <p:nvSpPr>
          <p:cNvPr id="6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515937" y="1523791"/>
            <a:ext cx="11133137" cy="4502936"/>
          </a:xfrm>
        </p:spPr>
        <p:txBody>
          <a:bodyPr/>
          <a:lstStyle/>
          <a:p>
            <a:r>
              <a:rPr lang="nl-NL" dirty="0" smtClean="0"/>
              <a:t>Nu nog alleen syntax en topologische checks voor beperkt aantal objecten</a:t>
            </a:r>
          </a:p>
          <a:p>
            <a:endParaRPr lang="nl-NL" dirty="0" smtClean="0"/>
          </a:p>
          <a:p>
            <a:r>
              <a:rPr lang="nl-NL" dirty="0" smtClean="0"/>
              <a:t>Na migratie naar DAMO2.2 uitbreiden naar checks op afmetingen en hoogtes </a:t>
            </a:r>
            <a:endParaRPr lang="nl-NL" dirty="0" smtClean="0"/>
          </a:p>
          <a:p>
            <a:pPr marL="702900" lvl="2" indent="-342900"/>
            <a:r>
              <a:rPr lang="nl-NL" dirty="0" smtClean="0"/>
              <a:t>hydrologen </a:t>
            </a:r>
            <a:r>
              <a:rPr lang="nl-NL" dirty="0"/>
              <a:t>gebruiken de </a:t>
            </a:r>
            <a:r>
              <a:rPr lang="nl-NL" dirty="0" err="1"/>
              <a:t>validatietool</a:t>
            </a:r>
            <a:r>
              <a:rPr lang="nl-NL" dirty="0"/>
              <a:t>(</a:t>
            </a:r>
            <a:r>
              <a:rPr lang="nl-NL" dirty="0" err="1"/>
              <a:t>webclient</a:t>
            </a:r>
            <a:r>
              <a:rPr lang="nl-NL" dirty="0"/>
              <a:t>) hiervoor </a:t>
            </a:r>
            <a:r>
              <a:rPr lang="nl-NL" dirty="0" smtClean="0"/>
              <a:t>al wel</a:t>
            </a:r>
            <a:endParaRPr lang="nl-NL" dirty="0"/>
          </a:p>
          <a:p>
            <a:endParaRPr lang="nl-NL" dirty="0" smtClean="0"/>
          </a:p>
          <a:p>
            <a:r>
              <a:rPr lang="nl-NL" dirty="0" smtClean="0"/>
              <a:t>Validatietool </a:t>
            </a:r>
            <a:r>
              <a:rPr lang="nl-NL" dirty="0" smtClean="0"/>
              <a:t>ook benutten voor klaarzetten van meetopdrachten</a:t>
            </a:r>
          </a:p>
          <a:p>
            <a:pPr indent="0">
              <a:buNone/>
            </a:pPr>
            <a:endParaRPr lang="nl-NL" dirty="0" smtClean="0"/>
          </a:p>
          <a:p>
            <a:r>
              <a:rPr lang="nl-NL" dirty="0" smtClean="0"/>
              <a:t>Stap </a:t>
            </a:r>
            <a:r>
              <a:rPr lang="nl-NL" dirty="0" smtClean="0"/>
              <a:t>naar werkelijk circulair modelleren nog zetten.</a:t>
            </a:r>
            <a:endParaRPr lang="nl-NL" dirty="0"/>
          </a:p>
          <a:p>
            <a:pPr marL="702900" lvl="2" indent="-342900"/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253201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463EEFAB-D47B-FB13-5753-CC2519917A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4EDCAE5-5265-8E51-1026-881153A9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653A56D-CB0F-2F8E-C0D4-303F0E4CC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Vragen? Tot zo bij de break-out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935713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WR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62E86"/>
      </a:accent1>
      <a:accent2>
        <a:srgbClr val="9CD2EB"/>
      </a:accent2>
      <a:accent3>
        <a:srgbClr val="C9D200"/>
      </a:accent3>
      <a:accent4>
        <a:srgbClr val="EC7404"/>
      </a:accent4>
      <a:accent5>
        <a:srgbClr val="9A82B6"/>
      </a:accent5>
      <a:accent6>
        <a:srgbClr val="DFE466"/>
      </a:accent6>
      <a:hlink>
        <a:srgbClr val="0563C1"/>
      </a:hlink>
      <a:folHlink>
        <a:srgbClr val="954F72"/>
      </a:folHlink>
    </a:clrScheme>
    <a:fontScheme name="WR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92605726-95FC-4564-A4FC-5B352B411459}" vid="{D27130D8-3E22-47BA-854D-D07A61B720C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1. Sjabloon WSRL</Template>
  <TotalTime>966</TotalTime>
  <Words>669</Words>
  <Application>Microsoft Office PowerPoint</Application>
  <PresentationFormat>Breedbeeld</PresentationFormat>
  <Paragraphs>137</Paragraphs>
  <Slides>12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Kantoorthema</vt:lpstr>
      <vt:lpstr>HyDAMO Gebruikersmiddag</vt:lpstr>
      <vt:lpstr>PowerPoint-presentatie</vt:lpstr>
      <vt:lpstr>Aanleiding WSRL</vt:lpstr>
      <vt:lpstr>Waarom automatisering met FME/API?</vt:lpstr>
      <vt:lpstr>Hoe aangepakt?</vt:lpstr>
      <vt:lpstr>01_GeopackageMaker</vt:lpstr>
      <vt:lpstr>02_WasmachineHyDAMO</vt:lpstr>
      <vt:lpstr>03_API_StartModule</vt:lpstr>
      <vt:lpstr>04_API_DownloadModule</vt:lpstr>
      <vt:lpstr>05_ObjectAnalysis</vt:lpstr>
      <vt:lpstr>Vervolg</vt:lpstr>
      <vt:lpstr>Vragen? Tot zo bij de break-out</vt:lpstr>
    </vt:vector>
  </TitlesOfParts>
  <Company>Waterschap Rivierenland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HyDAMO Gebruikersmiddag</dc:title>
  <dc:creator>Thoonsen, Cas</dc:creator>
  <cp:lastModifiedBy>Cas Thoonsen</cp:lastModifiedBy>
  <cp:revision>40</cp:revision>
  <dcterms:created xsi:type="dcterms:W3CDTF">2023-01-30T10:40:42Z</dcterms:created>
  <dcterms:modified xsi:type="dcterms:W3CDTF">2023-02-09T10:49:32Z</dcterms:modified>
</cp:coreProperties>
</file>