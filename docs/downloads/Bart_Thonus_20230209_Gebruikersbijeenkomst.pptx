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50" r:id="rId2"/>
  </p:sldMasterIdLst>
  <p:notesMasterIdLst>
    <p:notesMasterId r:id="rId21"/>
  </p:notesMasterIdLst>
  <p:sldIdLst>
    <p:sldId id="288" r:id="rId3"/>
    <p:sldId id="303" r:id="rId4"/>
    <p:sldId id="304" r:id="rId5"/>
    <p:sldId id="310" r:id="rId6"/>
    <p:sldId id="316" r:id="rId7"/>
    <p:sldId id="309" r:id="rId8"/>
    <p:sldId id="311" r:id="rId9"/>
    <p:sldId id="312" r:id="rId10"/>
    <p:sldId id="313" r:id="rId11"/>
    <p:sldId id="314" r:id="rId12"/>
    <p:sldId id="315" r:id="rId13"/>
    <p:sldId id="317" r:id="rId14"/>
    <p:sldId id="318" r:id="rId15"/>
    <p:sldId id="321" r:id="rId16"/>
    <p:sldId id="319" r:id="rId17"/>
    <p:sldId id="320" r:id="rId18"/>
    <p:sldId id="322" r:id="rId19"/>
    <p:sldId id="323" r:id="rId20"/>
  </p:sldIdLst>
  <p:sldSz cx="9144000" cy="6858000" type="screen4x3"/>
  <p:notesSz cx="6735763" cy="9866313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6BD"/>
    <a:srgbClr val="00B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2999" autoAdjust="0"/>
  </p:normalViewPr>
  <p:slideViewPr>
    <p:cSldViewPr>
      <p:cViewPr varScale="1">
        <p:scale>
          <a:sx n="110" d="100"/>
          <a:sy n="110" d="100"/>
        </p:scale>
        <p:origin x="154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7E2A9-E8C3-40D8-B0E9-952C5367785A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60FFB-3017-4913-93B6-D4ADA0CB06C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9589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Informatievoorziening is cruciaal in ons vakgebied. Wij maken en beheren webapplicaties, apps en </a:t>
            </a:r>
            <a:r>
              <a:rPr lang="nl-NL" dirty="0" err="1"/>
              <a:t>webservices</a:t>
            </a:r>
            <a:r>
              <a:rPr lang="nl-NL" dirty="0"/>
              <a:t> waarmee wij onze klanten voorzien van data en informatie.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0FFB-3017-4913-93B6-D4ADA0CB06CE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3162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Informatievoorziening is cruciaal in ons vakgebied. Wij maken en beheren webapplicaties, apps en </a:t>
            </a:r>
            <a:r>
              <a:rPr lang="nl-NL" dirty="0" err="1"/>
              <a:t>webservices</a:t>
            </a:r>
            <a:r>
              <a:rPr lang="nl-NL" dirty="0"/>
              <a:t> waarmee wij onze klanten voorzien van data en informatie.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0FFB-3017-4913-93B6-D4ADA0CB06CE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1698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Informatievoorziening is cruciaal in ons vakgebied. Wij maken en beheren webapplicaties, apps en </a:t>
            </a:r>
            <a:r>
              <a:rPr lang="nl-NL" dirty="0" err="1"/>
              <a:t>webservices</a:t>
            </a:r>
            <a:r>
              <a:rPr lang="nl-NL" dirty="0"/>
              <a:t> waarmee wij onze klanten voorzien van data en informatie.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0FFB-3017-4913-93B6-D4ADA0CB06CE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715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Informatievoorziening is cruciaal in ons vakgebied. Wij maken en beheren webapplicaties, apps en </a:t>
            </a:r>
            <a:r>
              <a:rPr lang="nl-NL" dirty="0" err="1"/>
              <a:t>webservices</a:t>
            </a:r>
            <a:r>
              <a:rPr lang="nl-NL" dirty="0"/>
              <a:t> waarmee wij onze klanten voorzien van data en informatie.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0FFB-3017-4913-93B6-D4ADA0CB06CE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4168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Informatievoorziening is cruciaal in ons vakgebied. Wij maken en beheren webapplicaties, apps en </a:t>
            </a:r>
            <a:r>
              <a:rPr lang="nl-NL" dirty="0" err="1"/>
              <a:t>webservices</a:t>
            </a:r>
            <a:r>
              <a:rPr lang="nl-NL" dirty="0"/>
              <a:t> waarmee wij onze klanten voorzien van data en informatie.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0FFB-3017-4913-93B6-D4ADA0CB06CE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5251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Informatievoorziening is cruciaal in ons vakgebied. Wij maken en beheren webapplicaties, apps en </a:t>
            </a:r>
            <a:r>
              <a:rPr lang="nl-NL" dirty="0" err="1"/>
              <a:t>webservices</a:t>
            </a:r>
            <a:r>
              <a:rPr lang="nl-NL" dirty="0"/>
              <a:t> waarmee wij onze klanten voorzien van data en informatie.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0FFB-3017-4913-93B6-D4ADA0CB06CE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5073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Informatievoorziening is cruciaal in ons vakgebied. Wij maken en beheren webapplicaties, apps en </a:t>
            </a:r>
            <a:r>
              <a:rPr lang="nl-NL" dirty="0" err="1"/>
              <a:t>webservices</a:t>
            </a:r>
            <a:r>
              <a:rPr lang="nl-NL" dirty="0"/>
              <a:t> waarmee wij onze klanten voorzien van data en informatie.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0FFB-3017-4913-93B6-D4ADA0CB06CE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7314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Informatievoorziening is cruciaal in ons vakgebied. Wij maken en beheren webapplicaties, apps en </a:t>
            </a:r>
            <a:r>
              <a:rPr lang="nl-NL" dirty="0" err="1"/>
              <a:t>webservices</a:t>
            </a:r>
            <a:r>
              <a:rPr lang="nl-NL" dirty="0"/>
              <a:t> waarmee wij onze klanten voorzien van data en informatie.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0FFB-3017-4913-93B6-D4ADA0CB06CE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88679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Informatievoorziening is cruciaal in ons vakgebied. Wij maken en beheren webapplicaties, apps en </a:t>
            </a:r>
            <a:r>
              <a:rPr lang="nl-NL" dirty="0" err="1"/>
              <a:t>webservices</a:t>
            </a:r>
            <a:r>
              <a:rPr lang="nl-NL" dirty="0"/>
              <a:t> waarmee wij onze klanten voorzien van data en informatie.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0FFB-3017-4913-93B6-D4ADA0CB06CE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4953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Informatievoorziening is cruciaal in ons vakgebied. Wij maken en beheren webapplicaties, apps en </a:t>
            </a:r>
            <a:r>
              <a:rPr lang="nl-NL" dirty="0" err="1"/>
              <a:t>webservices</a:t>
            </a:r>
            <a:r>
              <a:rPr lang="nl-NL" dirty="0"/>
              <a:t> waarmee wij onze klanten voorzien van data en informatie.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0FFB-3017-4913-93B6-D4ADA0CB06CE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3196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Informatievoorziening is cruciaal in ons vakgebied. Wij maken en beheren webapplicaties, apps en </a:t>
            </a:r>
            <a:r>
              <a:rPr lang="nl-NL" dirty="0" err="1"/>
              <a:t>webservices</a:t>
            </a:r>
            <a:r>
              <a:rPr lang="nl-NL" dirty="0"/>
              <a:t> waarmee wij onze klanten voorzien van data en informatie.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0FFB-3017-4913-93B6-D4ADA0CB06CE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62564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Informatievoorziening is cruciaal in ons vakgebied. Wij maken en beheren webapplicaties, apps en </a:t>
            </a:r>
            <a:r>
              <a:rPr lang="nl-NL" dirty="0" err="1"/>
              <a:t>webservices</a:t>
            </a:r>
            <a:r>
              <a:rPr lang="nl-NL" dirty="0"/>
              <a:t> waarmee wij onze klanten voorzien van data en informatie.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0FFB-3017-4913-93B6-D4ADA0CB06CE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43989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Informatievoorziening is cruciaal in ons vakgebied. Wij maken en beheren webapplicaties, apps en </a:t>
            </a:r>
            <a:r>
              <a:rPr lang="nl-NL" dirty="0" err="1"/>
              <a:t>webservices</a:t>
            </a:r>
            <a:r>
              <a:rPr lang="nl-NL" dirty="0"/>
              <a:t> waarmee wij onze klanten voorzien van data en informatie.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0FFB-3017-4913-93B6-D4ADA0CB06CE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60735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Informatievoorziening is cruciaal in ons vakgebied. Wij maken en beheren webapplicaties, apps en </a:t>
            </a:r>
            <a:r>
              <a:rPr lang="nl-NL" dirty="0" err="1"/>
              <a:t>webservices</a:t>
            </a:r>
            <a:r>
              <a:rPr lang="nl-NL" dirty="0"/>
              <a:t> waarmee wij onze klanten voorzien van data en informatie.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0FFB-3017-4913-93B6-D4ADA0CB06CE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17813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Informatievoorziening is cruciaal in ons vakgebied. Wij maken en beheren webapplicaties, apps en </a:t>
            </a:r>
            <a:r>
              <a:rPr lang="nl-NL" dirty="0" err="1"/>
              <a:t>webservices</a:t>
            </a:r>
            <a:r>
              <a:rPr lang="nl-NL" dirty="0"/>
              <a:t> waarmee wij onze klanten voorzien van data en informatie.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0FFB-3017-4913-93B6-D4ADA0CB06CE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17566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Informatievoorziening is cruciaal in ons vakgebied. Wij maken en beheren webapplicaties, apps en </a:t>
            </a:r>
            <a:r>
              <a:rPr lang="nl-NL" dirty="0" err="1"/>
              <a:t>webservices</a:t>
            </a:r>
            <a:r>
              <a:rPr lang="nl-NL" dirty="0"/>
              <a:t> waarmee wij onze klanten voorzien van data en informatie.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0FFB-3017-4913-93B6-D4ADA0CB06CE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2816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0C38-D898-4ADF-90E9-A31ED131FD4D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BC39-8FD0-4857-A07B-F43A51D253E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6046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0C38-D898-4ADF-90E9-A31ED131FD4D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BC39-8FD0-4857-A07B-F43A51D253E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147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0C38-D898-4ADF-90E9-A31ED131FD4D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BC39-8FD0-4857-A07B-F43A51D253E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72038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0C38-D898-4ADF-90E9-A31ED131FD4D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BC39-8FD0-4857-A07B-F43A51D253E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2899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0C38-D898-4ADF-90E9-A31ED131FD4D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BC39-8FD0-4857-A07B-F43A51D253E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9426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0C38-D898-4ADF-90E9-A31ED131FD4D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BC39-8FD0-4857-A07B-F43A51D253E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37826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0C38-D898-4ADF-90E9-A31ED131FD4D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BC39-8FD0-4857-A07B-F43A51D253E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0244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0C38-D898-4ADF-90E9-A31ED131FD4D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BC39-8FD0-4857-A07B-F43A51D253E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5732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0C38-D898-4ADF-90E9-A31ED131FD4D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BC39-8FD0-4857-A07B-F43A51D253E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312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0C38-D898-4ADF-90E9-A31ED131FD4D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BC39-8FD0-4857-A07B-F43A51D253E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9501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0C38-D898-4ADF-90E9-A31ED131FD4D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BC39-8FD0-4857-A07B-F43A51D253E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8422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7E34-BB74-44A2-B323-D5960B5CE365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7B30-E723-4D3F-9BCE-BD5F59B041B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3906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Autofit/>
          </a:bodyPr>
          <a:lstStyle>
            <a:lvl1pPr>
              <a:defRPr sz="2400" b="1">
                <a:solidFill>
                  <a:srgbClr val="0076BD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Autofit/>
          </a:bodyPr>
          <a:lstStyle>
            <a:lvl1pPr>
              <a:buClr>
                <a:srgbClr val="0076BD"/>
              </a:buClr>
              <a:defRPr sz="24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>
              <a:buClr>
                <a:srgbClr val="0076BD"/>
              </a:buClr>
              <a:defRPr sz="2000"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>
              <a:buClr>
                <a:srgbClr val="0076BD"/>
              </a:buClr>
              <a:defRPr sz="1800"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>
              <a:buClr>
                <a:srgbClr val="0076BD"/>
              </a:buClr>
              <a:defRPr sz="1600"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>
              <a:buClr>
                <a:srgbClr val="0076BD"/>
              </a:buClr>
              <a:defRPr sz="1400"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67544" y="6453336"/>
            <a:ext cx="2133600" cy="365125"/>
          </a:xfrm>
        </p:spPr>
        <p:txBody>
          <a:bodyPr/>
          <a:lstStyle/>
          <a:p>
            <a:fld id="{8CAE7E34-BB74-44A2-B323-D5960B5CE365}" type="datetimeFigureOut">
              <a:rPr lang="nl-NL" smtClean="0"/>
              <a:t>10-2-2023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453336"/>
            <a:ext cx="2895600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80850" y="6453336"/>
            <a:ext cx="2133600" cy="365125"/>
          </a:xfrm>
        </p:spPr>
        <p:txBody>
          <a:bodyPr/>
          <a:lstStyle/>
          <a:p>
            <a:fld id="{6A4E7B30-E723-4D3F-9BCE-BD5F59B041B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1121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7E34-BB74-44A2-B323-D5960B5CE365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7B30-E723-4D3F-9BCE-BD5F59B041B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57380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7E34-BB74-44A2-B323-D5960B5CE365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7B30-E723-4D3F-9BCE-BD5F59B041B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8806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7E34-BB74-44A2-B323-D5960B5CE365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7B30-E723-4D3F-9BCE-BD5F59B041B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3505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7E34-BB74-44A2-B323-D5960B5CE365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7B30-E723-4D3F-9BCE-BD5F59B041B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198993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7E34-BB74-44A2-B323-D5960B5CE365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7B30-E723-4D3F-9BCE-BD5F59B041B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437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7E34-BB74-44A2-B323-D5960B5CE365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7B30-E723-4D3F-9BCE-BD5F59B041B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71464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7E34-BB74-44A2-B323-D5960B5CE365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7B30-E723-4D3F-9BCE-BD5F59B041B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900897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7E34-BB74-44A2-B323-D5960B5CE365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7B30-E723-4D3F-9BCE-BD5F59B041B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20599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7E34-BB74-44A2-B323-D5960B5CE365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7B30-E723-4D3F-9BCE-BD5F59B041B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369280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7E34-BB74-44A2-B323-D5960B5CE365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7B30-E723-4D3F-9BCE-BD5F59B041B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27591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7E34-BB74-44A2-B323-D5960B5CE365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7B30-E723-4D3F-9BCE-BD5F59B041B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12433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30C38-D898-4ADF-90E9-A31ED131FD4D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6BC39-8FD0-4857-A07B-F43A51D253E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0555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E7E34-BB74-44A2-B323-D5960B5CE365}" type="datetimeFigureOut">
              <a:rPr lang="nl-NL" smtClean="0"/>
              <a:t>10-2-2023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E7B30-E723-4D3F-9BCE-BD5F59B041B8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71"/>
            <a:ext cx="9144000" cy="685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539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mentimeter.com/app/presentation/al64zqb2uys7nmudne6r6vkptupepcde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HetWaterschapshuis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validatie-api.hydamo.nl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validatietool.hydamo.nl/" TargetMode="External"/><Relationship Id="rId5" Type="http://schemas.openxmlformats.org/officeDocument/2006/relationships/hyperlink" Target="https://hkvconfluence.atlassian.net/wiki/spaces/VAL/overview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hyperlink" Target="mailto:helpdesk-hydamo-validatietool@hkv.nl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683568" y="3861048"/>
            <a:ext cx="7772400" cy="1470025"/>
          </a:xfrm>
        </p:spPr>
        <p:txBody>
          <a:bodyPr>
            <a:normAutofit/>
          </a:bodyPr>
          <a:lstStyle/>
          <a:p>
            <a:r>
              <a:rPr lang="nl-NL" sz="40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HyDAMO</a:t>
            </a:r>
            <a:r>
              <a:rPr lang="nl-NL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Validatietool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5661248"/>
            <a:ext cx="6400800" cy="982960"/>
          </a:xfrm>
        </p:spPr>
        <p:txBody>
          <a:bodyPr/>
          <a:lstStyle/>
          <a:p>
            <a:r>
              <a:rPr lang="nl-NL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Gebruikersbijeenkomst</a:t>
            </a:r>
          </a:p>
          <a:p>
            <a:r>
              <a:rPr lang="nl-NL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9 februari 2023</a:t>
            </a:r>
          </a:p>
        </p:txBody>
      </p:sp>
      <p:pic>
        <p:nvPicPr>
          <p:cNvPr id="5" name="Picture 4" descr="A picture containing map&#10;&#10;Description automatically generated">
            <a:extLst>
              <a:ext uri="{FF2B5EF4-FFF2-40B4-BE49-F238E27FC236}">
                <a16:creationId xmlns:a16="http://schemas.microsoft.com/office/drawing/2014/main" id="{319D5DB8-2367-4134-BA82-57A03E73F11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-27384"/>
            <a:ext cx="9144000" cy="3212976"/>
          </a:xfrm>
          <a:prstGeom prst="rect">
            <a:avLst/>
          </a:prstGeom>
        </p:spPr>
      </p:pic>
      <p:pic>
        <p:nvPicPr>
          <p:cNvPr id="8" name="Picture 7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CBEBDADA-A82C-4CC4-B6A1-D8D6728172C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409514" y="3223993"/>
            <a:ext cx="1367790" cy="457200"/>
          </a:xfrm>
          <a:prstGeom prst="rect">
            <a:avLst/>
          </a:prstGeom>
        </p:spPr>
      </p:pic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2CFB517-2D10-4AAE-8C77-9659E7F4A123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932040" y="3030003"/>
            <a:ext cx="1367790" cy="827405"/>
          </a:xfrm>
          <a:prstGeom prst="rect">
            <a:avLst/>
          </a:prstGeom>
        </p:spPr>
      </p:pic>
      <p:pic>
        <p:nvPicPr>
          <p:cNvPr id="1026" name="Picture 2" descr="Logo Het Waterschapshuis">
            <a:extLst>
              <a:ext uri="{FF2B5EF4-FFF2-40B4-BE49-F238E27FC236}">
                <a16:creationId xmlns:a16="http://schemas.microsoft.com/office/drawing/2014/main" id="{2C64A2DF-9B5F-0890-BF83-B0E64A7C5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8" y="2897203"/>
            <a:ext cx="2857500" cy="96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8837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Programma</a:t>
            </a:r>
          </a:p>
        </p:txBody>
      </p:sp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9A078EA-93E2-4E06-9652-6FAE89A9E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907" y="6465949"/>
            <a:ext cx="978493" cy="326926"/>
          </a:xfrm>
          <a:prstGeom prst="rect">
            <a:avLst/>
          </a:prstGeo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809CBA99-00E0-4C0F-9D13-8152BC033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6327374"/>
            <a:ext cx="1000125" cy="60407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152B507-F167-4006-8C89-BB5DC9722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411912"/>
            <a:ext cx="8229600" cy="4713387"/>
          </a:xfrm>
        </p:spPr>
        <p:txBody>
          <a:bodyPr>
            <a:noAutofit/>
          </a:bodyPr>
          <a:lstStyle/>
          <a:p>
            <a:pPr marL="0" lvl="0" indent="0">
              <a:buNone/>
              <a:tabLst>
                <a:tab pos="228600" algn="l"/>
              </a:tabLst>
            </a:pPr>
            <a:r>
              <a:rPr lang="nl-NL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13:00-13:30 Inloop en ontvangst bij het Waterschapshuis</a:t>
            </a:r>
            <a:endParaRPr lang="nl-NL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buNone/>
              <a:tabLst>
                <a:tab pos="228600" algn="l"/>
              </a:tabLst>
            </a:pPr>
            <a:r>
              <a:rPr lang="nl-NL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13:30-14:50 Inleiding door het Waterschapshuis</a:t>
            </a:r>
            <a:endParaRPr lang="nl-NL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buNone/>
              <a:tabLst>
                <a:tab pos="228600" algn="l"/>
              </a:tabLst>
            </a:pPr>
            <a:r>
              <a:rPr lang="nl-NL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13:50-14:00 </a:t>
            </a:r>
            <a:r>
              <a:rPr lang="nl-NL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Mentimeter</a:t>
            </a:r>
            <a:endParaRPr lang="nl-NL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buNone/>
              <a:tabLst>
                <a:tab pos="228600" algn="l"/>
              </a:tabLst>
            </a:pPr>
            <a:r>
              <a:rPr lang="nl-NL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14:00-15:00 Gebruikerservaringen uit het veld (gebruikers)</a:t>
            </a:r>
            <a:endParaRPr lang="nl-NL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buNone/>
              <a:tabLst>
                <a:tab pos="228600" algn="l"/>
              </a:tabLst>
            </a:pPr>
            <a:r>
              <a:rPr lang="nl-NL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15:00-15:15 Pauze</a:t>
            </a:r>
            <a:endParaRPr lang="nl-NL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buNone/>
              <a:tabLst>
                <a:tab pos="228600" algn="l"/>
              </a:tabLst>
            </a:pPr>
            <a:r>
              <a:rPr lang="nl-NL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15:15-16:00 Drie break-out sessies met discussies en delen ervaringen </a:t>
            </a:r>
            <a:endParaRPr lang="nl-NL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buNone/>
              <a:tabLst>
                <a:tab pos="228600" algn="l"/>
              </a:tabLst>
            </a:pPr>
            <a:r>
              <a:rPr lang="nl-NL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16:00-16:15 Terugmelding en afsluiting door het Waterschapshuis</a:t>
            </a:r>
            <a:endParaRPr lang="nl-NL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buNone/>
              <a:tabLst>
                <a:tab pos="228600" algn="l"/>
              </a:tabLst>
            </a:pPr>
            <a:r>
              <a:rPr lang="nl-NL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16:15-17:00 Borrel</a:t>
            </a:r>
            <a:endParaRPr lang="nl-NL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Logo Het Waterschapshuis">
            <a:extLst>
              <a:ext uri="{FF2B5EF4-FFF2-40B4-BE49-F238E27FC236}">
                <a16:creationId xmlns:a16="http://schemas.microsoft.com/office/drawing/2014/main" id="{734047AF-1B9F-19BA-2716-7220474E5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9984"/>
            <a:ext cx="1620000" cy="54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9008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Inleiding</a:t>
            </a:r>
          </a:p>
        </p:txBody>
      </p:sp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9A078EA-93E2-4E06-9652-6FAE89A9E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907" y="6465949"/>
            <a:ext cx="978493" cy="326926"/>
          </a:xfrm>
          <a:prstGeom prst="rect">
            <a:avLst/>
          </a:prstGeo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809CBA99-00E0-4C0F-9D13-8152BC033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6327374"/>
            <a:ext cx="1000125" cy="60407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152B507-F167-4006-8C89-BB5DC9722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411912"/>
            <a:ext cx="8229600" cy="4713387"/>
          </a:xfrm>
        </p:spPr>
        <p:txBody>
          <a:bodyPr>
            <a:noAutofit/>
          </a:bodyPr>
          <a:lstStyle/>
          <a:p>
            <a:r>
              <a:rPr lang="nl-NL" altLang="nl-NL" kern="0" dirty="0"/>
              <a:t>Het Waterschapshuis</a:t>
            </a:r>
          </a:p>
          <a:p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</p:txBody>
      </p:sp>
      <p:pic>
        <p:nvPicPr>
          <p:cNvPr id="4" name="Picture 2" descr="Logo Het Waterschapshuis">
            <a:extLst>
              <a:ext uri="{FF2B5EF4-FFF2-40B4-BE49-F238E27FC236}">
                <a16:creationId xmlns:a16="http://schemas.microsoft.com/office/drawing/2014/main" id="{F3DF5720-CE4F-BA56-AF3F-07EED226C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9984"/>
            <a:ext cx="1620000" cy="54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0749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Inleiding</a:t>
            </a:r>
          </a:p>
        </p:txBody>
      </p:sp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9A078EA-93E2-4E06-9652-6FAE89A9E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907" y="6465949"/>
            <a:ext cx="978493" cy="326926"/>
          </a:xfrm>
          <a:prstGeom prst="rect">
            <a:avLst/>
          </a:prstGeo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809CBA99-00E0-4C0F-9D13-8152BC033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6327374"/>
            <a:ext cx="1000125" cy="60407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152B507-F167-4006-8C89-BB5DC9722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411912"/>
            <a:ext cx="8229600" cy="4713387"/>
          </a:xfrm>
        </p:spPr>
        <p:txBody>
          <a:bodyPr>
            <a:noAutofit/>
          </a:bodyPr>
          <a:lstStyle/>
          <a:p>
            <a:endParaRPr lang="nl-NL" altLang="nl-NL" kern="0" dirty="0"/>
          </a:p>
          <a:p>
            <a:endParaRPr lang="nl-NL" altLang="nl-NL" kern="0" dirty="0"/>
          </a:p>
          <a:p>
            <a:pPr lvl="1"/>
            <a:endParaRPr lang="nl-NL" altLang="nl-NL" kern="0" dirty="0"/>
          </a:p>
          <a:p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</p:txBody>
      </p:sp>
      <p:pic>
        <p:nvPicPr>
          <p:cNvPr id="4" name="Picture 2" descr="Logo Het Waterschapshuis">
            <a:extLst>
              <a:ext uri="{FF2B5EF4-FFF2-40B4-BE49-F238E27FC236}">
                <a16:creationId xmlns:a16="http://schemas.microsoft.com/office/drawing/2014/main" id="{F3DF5720-CE4F-BA56-AF3F-07EED226C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9984"/>
            <a:ext cx="1620000" cy="54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Mentimeter - YouTube">
            <a:hlinkClick r:id="rId6"/>
            <a:extLst>
              <a:ext uri="{FF2B5EF4-FFF2-40B4-BE49-F238E27FC236}">
                <a16:creationId xmlns:a16="http://schemas.microsoft.com/office/drawing/2014/main" id="{2FED344B-42B3-DF11-90FE-A4FD065CC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344" y="1110613"/>
            <a:ext cx="4680000" cy="46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2705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Inleiding</a:t>
            </a:r>
          </a:p>
        </p:txBody>
      </p:sp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9A078EA-93E2-4E06-9652-6FAE89A9E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907" y="6465949"/>
            <a:ext cx="978493" cy="326926"/>
          </a:xfrm>
          <a:prstGeom prst="rect">
            <a:avLst/>
          </a:prstGeo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809CBA99-00E0-4C0F-9D13-8152BC033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6327374"/>
            <a:ext cx="1000125" cy="60407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152B507-F167-4006-8C89-BB5DC9722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411912"/>
            <a:ext cx="8229600" cy="47133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l-NL" altLang="nl-NL" kern="0" dirty="0"/>
              <a:t>Informatie gebruik </a:t>
            </a:r>
            <a:r>
              <a:rPr lang="nl-NL" altLang="nl-NL" kern="0" dirty="0" err="1"/>
              <a:t>HyDAMO</a:t>
            </a:r>
            <a:r>
              <a:rPr lang="nl-NL" altLang="nl-NL" kern="0" dirty="0"/>
              <a:t> Validatietool</a:t>
            </a:r>
          </a:p>
          <a:p>
            <a:r>
              <a:rPr lang="nl-NL" altLang="nl-NL" kern="0" dirty="0"/>
              <a:t>Wiki: </a:t>
            </a:r>
            <a:r>
              <a:rPr lang="nl-NL" altLang="nl-NL" kern="0" dirty="0">
                <a:hlinkClick r:id="rId5"/>
              </a:rPr>
              <a:t>https://hkvconfluence.atlassian.net/ wiki/spaces/VAL/overview</a:t>
            </a:r>
            <a:endParaRPr lang="nl-NL" altLang="nl-NL" kern="0" dirty="0"/>
          </a:p>
          <a:p>
            <a:r>
              <a:rPr lang="nl-NL" altLang="nl-NL" kern="0" dirty="0" err="1"/>
              <a:t>Webclient</a:t>
            </a:r>
            <a:r>
              <a:rPr lang="nl-NL" altLang="nl-NL" kern="0" dirty="0"/>
              <a:t>: </a:t>
            </a:r>
            <a:r>
              <a:rPr lang="nl-NL" altLang="nl-NL" kern="0" dirty="0">
                <a:hlinkClick r:id="rId6"/>
              </a:rPr>
              <a:t>https://validatietool.hydamo.nl/</a:t>
            </a:r>
            <a:endParaRPr lang="nl-NL" altLang="nl-NL" kern="0" dirty="0"/>
          </a:p>
          <a:p>
            <a:r>
              <a:rPr lang="nl-NL" altLang="nl-NL" kern="0" dirty="0"/>
              <a:t>API: </a:t>
            </a:r>
            <a:r>
              <a:rPr lang="nl-NL" altLang="nl-NL" kern="0" dirty="0">
                <a:hlinkClick r:id="rId7"/>
              </a:rPr>
              <a:t>https://validatie-api.hydamo.nl/</a:t>
            </a:r>
            <a:endParaRPr lang="nl-NL" altLang="nl-NL" kern="0" dirty="0"/>
          </a:p>
          <a:p>
            <a:r>
              <a:rPr lang="nl-NL" altLang="nl-NL" kern="0" dirty="0" err="1"/>
              <a:t>Github</a:t>
            </a:r>
            <a:r>
              <a:rPr lang="nl-NL" altLang="nl-NL" kern="0" dirty="0"/>
              <a:t>: </a:t>
            </a:r>
            <a:r>
              <a:rPr lang="nl-NL" altLang="nl-NL" kern="0" dirty="0">
                <a:hlinkClick r:id="rId8"/>
              </a:rPr>
              <a:t>https://github.com/HetWaterschapshuis</a:t>
            </a:r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  <a:p>
            <a:pPr marL="0" indent="0">
              <a:buNone/>
            </a:pPr>
            <a:r>
              <a:rPr lang="nl-NL" altLang="nl-NL" kern="0" dirty="0"/>
              <a:t>Helpdesk: </a:t>
            </a:r>
            <a:r>
              <a:rPr lang="nl-NL" altLang="nl-NL" kern="0" dirty="0">
                <a:hlinkClick r:id="rId9"/>
              </a:rPr>
              <a:t>helpdesk-hydamo-validatietool@hkv.nl</a:t>
            </a:r>
            <a:r>
              <a:rPr lang="nl-NL" altLang="nl-NL" kern="0" dirty="0"/>
              <a:t> </a:t>
            </a:r>
          </a:p>
          <a:p>
            <a:pPr marL="0" indent="0">
              <a:buNone/>
            </a:pPr>
            <a:endParaRPr lang="nl-NL" altLang="nl-NL" kern="0" dirty="0"/>
          </a:p>
        </p:txBody>
      </p:sp>
      <p:pic>
        <p:nvPicPr>
          <p:cNvPr id="4" name="Picture 2" descr="Logo Het Waterschapshuis">
            <a:extLst>
              <a:ext uri="{FF2B5EF4-FFF2-40B4-BE49-F238E27FC236}">
                <a16:creationId xmlns:a16="http://schemas.microsoft.com/office/drawing/2014/main" id="{F3DF5720-CE4F-BA56-AF3F-07EED226C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9984"/>
            <a:ext cx="1620000" cy="54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417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3EE70-AD96-4571-8CE0-117457E34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Inleiding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CA00E6E-0333-422E-90EC-95A6E0B51D32}"/>
              </a:ext>
            </a:extLst>
          </p:cNvPr>
          <p:cNvGrpSpPr/>
          <p:nvPr/>
        </p:nvGrpSpPr>
        <p:grpSpPr>
          <a:xfrm>
            <a:off x="2189982" y="1166338"/>
            <a:ext cx="4349328" cy="1713513"/>
            <a:chOff x="2189982" y="1166338"/>
            <a:chExt cx="4349328" cy="1713513"/>
          </a:xfrm>
        </p:grpSpPr>
        <p:pic>
          <p:nvPicPr>
            <p:cNvPr id="23" name="Picture 22" descr="Graphical user interface, website&#10;&#10;Description automatically generated">
              <a:extLst>
                <a:ext uri="{FF2B5EF4-FFF2-40B4-BE49-F238E27FC236}">
                  <a16:creationId xmlns:a16="http://schemas.microsoft.com/office/drawing/2014/main" id="{25659063-8739-4A89-AD26-E3694B1A2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840" y="1604245"/>
              <a:ext cx="2267745" cy="1275606"/>
            </a:xfrm>
            <a:prstGeom prst="rect">
              <a:avLst/>
            </a:prstGeom>
          </p:spPr>
        </p:pic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FF24956-8443-44EB-894C-E2842B6E03D9}"/>
                </a:ext>
              </a:extLst>
            </p:cNvPr>
            <p:cNvCxnSpPr/>
            <p:nvPr/>
          </p:nvCxnSpPr>
          <p:spPr>
            <a:xfrm flipV="1">
              <a:off x="2189982" y="2231779"/>
              <a:ext cx="764965" cy="59228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03CFA08-5030-48F0-8F1B-322BC944EC20}"/>
                </a:ext>
              </a:extLst>
            </p:cNvPr>
            <p:cNvCxnSpPr>
              <a:cxnSpLocks/>
            </p:cNvCxnSpPr>
            <p:nvPr/>
          </p:nvCxnSpPr>
          <p:spPr>
            <a:xfrm>
              <a:off x="5774345" y="2242048"/>
              <a:ext cx="764965" cy="59228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258E123-FDDA-4A34-B6F0-E6C63E273F34}"/>
                </a:ext>
              </a:extLst>
            </p:cNvPr>
            <p:cNvSpPr txBox="1"/>
            <p:nvPr/>
          </p:nvSpPr>
          <p:spPr>
            <a:xfrm>
              <a:off x="3698569" y="1166338"/>
              <a:ext cx="11342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Webclient</a:t>
              </a:r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B5E0ABC-1C84-41EC-BAB9-C40F54F8C8EF}"/>
              </a:ext>
            </a:extLst>
          </p:cNvPr>
          <p:cNvGrpSpPr/>
          <p:nvPr/>
        </p:nvGrpSpPr>
        <p:grpSpPr>
          <a:xfrm>
            <a:off x="6448328" y="2824065"/>
            <a:ext cx="2438398" cy="1584176"/>
            <a:chOff x="6448328" y="2824065"/>
            <a:chExt cx="2438398" cy="1584176"/>
          </a:xfrm>
        </p:grpSpPr>
        <p:sp>
          <p:nvSpPr>
            <p:cNvPr id="24" name="Cloud 23">
              <a:extLst>
                <a:ext uri="{FF2B5EF4-FFF2-40B4-BE49-F238E27FC236}">
                  <a16:creationId xmlns:a16="http://schemas.microsoft.com/office/drawing/2014/main" id="{9297595C-7620-4CAF-9551-CDEBCBF30F7D}"/>
                </a:ext>
              </a:extLst>
            </p:cNvPr>
            <p:cNvSpPr/>
            <p:nvPr/>
          </p:nvSpPr>
          <p:spPr>
            <a:xfrm>
              <a:off x="6448328" y="2824065"/>
              <a:ext cx="2438398" cy="1584176"/>
            </a:xfrm>
            <a:prstGeom prst="clou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1BED569-AD41-4961-B026-18089A282C9D}"/>
                </a:ext>
              </a:extLst>
            </p:cNvPr>
            <p:cNvSpPr txBox="1"/>
            <p:nvPr/>
          </p:nvSpPr>
          <p:spPr>
            <a:xfrm>
              <a:off x="7035635" y="3147373"/>
              <a:ext cx="127522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1"/>
                  </a:solidFill>
                </a:rPr>
                <a:t>HyDAMO</a:t>
              </a:r>
              <a:r>
                <a:rPr lang="en-US" dirty="0">
                  <a:solidFill>
                    <a:schemeClr val="bg1"/>
                  </a:solidFill>
                </a:rPr>
                <a:t> </a:t>
              </a:r>
            </a:p>
            <a:p>
              <a:pPr algn="ctr"/>
              <a:r>
                <a:rPr lang="en-US" dirty="0" err="1">
                  <a:solidFill>
                    <a:schemeClr val="bg1"/>
                  </a:solidFill>
                </a:rPr>
                <a:t>Validatie</a:t>
              </a:r>
              <a:endParaRPr lang="en-US" dirty="0">
                <a:solidFill>
                  <a:schemeClr val="bg1"/>
                </a:solidFill>
              </a:endParaRP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Webservice</a:t>
              </a:r>
            </a:p>
          </p:txBody>
        </p:sp>
      </p:grpSp>
      <p:pic>
        <p:nvPicPr>
          <p:cNvPr id="40" name="Picture 39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9A72E69-4902-45D8-B21D-A61641253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907" y="6465949"/>
            <a:ext cx="978493" cy="326926"/>
          </a:xfrm>
          <a:prstGeom prst="rect">
            <a:avLst/>
          </a:prstGeom>
        </p:spPr>
      </p:pic>
      <p:pic>
        <p:nvPicPr>
          <p:cNvPr id="41" name="Picture 40" descr="Logo, company name&#10;&#10;Description automatically generated">
            <a:extLst>
              <a:ext uri="{FF2B5EF4-FFF2-40B4-BE49-F238E27FC236}">
                <a16:creationId xmlns:a16="http://schemas.microsoft.com/office/drawing/2014/main" id="{16A5CB43-A8DA-4E0E-8531-110DE1AF0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6327374"/>
            <a:ext cx="1000125" cy="604076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54D016F9-947E-4030-BAF0-5BB2E6FCFFB8}"/>
              </a:ext>
            </a:extLst>
          </p:cNvPr>
          <p:cNvGrpSpPr/>
          <p:nvPr/>
        </p:nvGrpSpPr>
        <p:grpSpPr>
          <a:xfrm>
            <a:off x="381969" y="2677941"/>
            <a:ext cx="2438400" cy="2168866"/>
            <a:chOff x="381969" y="2677941"/>
            <a:chExt cx="2438400" cy="2168866"/>
          </a:xfrm>
        </p:grpSpPr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603BD25B-9F84-49A4-A07E-C2397879B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969" y="2677941"/>
              <a:ext cx="2438400" cy="1876425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AF195B9-72C7-4C16-8FE0-027FF1858A60}"/>
                </a:ext>
              </a:extLst>
            </p:cNvPr>
            <p:cNvSpPr txBox="1"/>
            <p:nvPr/>
          </p:nvSpPr>
          <p:spPr>
            <a:xfrm>
              <a:off x="918305" y="4477475"/>
              <a:ext cx="12007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Gebruikers</a:t>
              </a:r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DDF0471-1FE0-4A32-A403-1CF329665CAA}"/>
              </a:ext>
            </a:extLst>
          </p:cNvPr>
          <p:cNvGrpSpPr/>
          <p:nvPr/>
        </p:nvGrpSpPr>
        <p:grpSpPr>
          <a:xfrm>
            <a:off x="2189982" y="3889881"/>
            <a:ext cx="4420397" cy="2026509"/>
            <a:chOff x="2189982" y="3889881"/>
            <a:chExt cx="4420397" cy="2026509"/>
          </a:xfrm>
        </p:grpSpPr>
        <p:pic>
          <p:nvPicPr>
            <p:cNvPr id="25" name="Picture 24" descr="Logo&#10;&#10;Description automatically generated">
              <a:extLst>
                <a:ext uri="{FF2B5EF4-FFF2-40B4-BE49-F238E27FC236}">
                  <a16:creationId xmlns:a16="http://schemas.microsoft.com/office/drawing/2014/main" id="{64A0F88D-9055-4C94-947B-61FB4916AB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5000" y="4585487"/>
              <a:ext cx="1810073" cy="536988"/>
            </a:xfrm>
            <a:prstGeom prst="rect">
              <a:avLst/>
            </a:prstGeom>
          </p:spPr>
        </p:pic>
        <p:pic>
          <p:nvPicPr>
            <p:cNvPr id="26" name="Picture 25" descr="Logo, company name&#10;&#10;Description automatically generated">
              <a:extLst>
                <a:ext uri="{FF2B5EF4-FFF2-40B4-BE49-F238E27FC236}">
                  <a16:creationId xmlns:a16="http://schemas.microsoft.com/office/drawing/2014/main" id="{EAF33C19-48EC-4F7F-BEB6-85249CC7F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96705" y="5026153"/>
              <a:ext cx="1446662" cy="683146"/>
            </a:xfrm>
            <a:prstGeom prst="rect">
              <a:avLst/>
            </a:prstGeom>
          </p:spPr>
        </p:pic>
        <p:pic>
          <p:nvPicPr>
            <p:cNvPr id="27" name="Picture 26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C24C88CC-FE20-4962-B8A3-159A57D4B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98307" y="4722638"/>
              <a:ext cx="1136091" cy="785287"/>
            </a:xfrm>
            <a:prstGeom prst="rect">
              <a:avLst/>
            </a:prstGeom>
          </p:spPr>
        </p:pic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C4E2493-38B1-42A1-A092-F1F3C2D2E907}"/>
                </a:ext>
              </a:extLst>
            </p:cNvPr>
            <p:cNvCxnSpPr/>
            <p:nvPr/>
          </p:nvCxnSpPr>
          <p:spPr>
            <a:xfrm flipV="1">
              <a:off x="5845414" y="4314173"/>
              <a:ext cx="764965" cy="59228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51535CC-254A-4608-A886-6747ABA72EAD}"/>
                </a:ext>
              </a:extLst>
            </p:cNvPr>
            <p:cNvCxnSpPr>
              <a:cxnSpLocks/>
            </p:cNvCxnSpPr>
            <p:nvPr/>
          </p:nvCxnSpPr>
          <p:spPr>
            <a:xfrm>
              <a:off x="2189982" y="4313782"/>
              <a:ext cx="764965" cy="59228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A73EA70-EC15-4B03-B46E-4C7DC683D44E}"/>
                </a:ext>
              </a:extLst>
            </p:cNvPr>
            <p:cNvSpPr txBox="1"/>
            <p:nvPr/>
          </p:nvSpPr>
          <p:spPr>
            <a:xfrm>
              <a:off x="4185271" y="5547058"/>
              <a:ext cx="808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Scripts</a:t>
              </a: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C2EA0D59-EA46-4939-9399-5A55F2EE1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17437" y="3889881"/>
              <a:ext cx="2351062" cy="594113"/>
            </a:xfrm>
            <a:prstGeom prst="rect">
              <a:avLst/>
            </a:prstGeom>
          </p:spPr>
        </p:pic>
      </p:grpSp>
      <p:pic>
        <p:nvPicPr>
          <p:cNvPr id="3" name="Picture 2" descr="Logo Het Waterschapshuis">
            <a:extLst>
              <a:ext uri="{FF2B5EF4-FFF2-40B4-BE49-F238E27FC236}">
                <a16:creationId xmlns:a16="http://schemas.microsoft.com/office/drawing/2014/main" id="{7122C286-C50F-B3DC-0736-9D66D01CD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9984"/>
            <a:ext cx="1620000" cy="54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9334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Gebruikerservaringen uit het veld</a:t>
            </a:r>
          </a:p>
        </p:txBody>
      </p:sp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9A078EA-93E2-4E06-9652-6FAE89A9E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907" y="6465949"/>
            <a:ext cx="978493" cy="326926"/>
          </a:xfrm>
          <a:prstGeom prst="rect">
            <a:avLst/>
          </a:prstGeo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809CBA99-00E0-4C0F-9D13-8152BC033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6327374"/>
            <a:ext cx="1000125" cy="60407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152B507-F167-4006-8C89-BB5DC9722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411912"/>
            <a:ext cx="8229600" cy="4713387"/>
          </a:xfrm>
        </p:spPr>
        <p:txBody>
          <a:bodyPr>
            <a:noAutofit/>
          </a:bodyPr>
          <a:lstStyle/>
          <a:p>
            <a:r>
              <a:rPr lang="nl-NL" altLang="nl-NL" kern="0" dirty="0"/>
              <a:t>Aan de slag met </a:t>
            </a:r>
            <a:r>
              <a:rPr lang="nl-NL" altLang="nl-NL" kern="0" dirty="0" err="1"/>
              <a:t>tooling</a:t>
            </a:r>
            <a:endParaRPr lang="nl-NL" altLang="nl-NL" kern="0" dirty="0"/>
          </a:p>
          <a:p>
            <a:pPr marL="0" indent="357188">
              <a:buNone/>
            </a:pPr>
            <a:r>
              <a:rPr lang="nl-NL" altLang="nl-NL" i="1" kern="0" dirty="0"/>
              <a:t>Rudolf Versteeg van Waterschap Zuiderzeeland</a:t>
            </a:r>
            <a:r>
              <a:rPr lang="nl-NL" altLang="nl-NL" kern="0" dirty="0"/>
              <a:t> </a:t>
            </a:r>
          </a:p>
          <a:p>
            <a:r>
              <a:rPr lang="nl-NL" altLang="nl-NL" kern="0" dirty="0"/>
              <a:t>Automatiseren met API en FME </a:t>
            </a:r>
          </a:p>
          <a:p>
            <a:pPr marL="0" indent="357188">
              <a:buNone/>
            </a:pPr>
            <a:r>
              <a:rPr lang="nl-NL" altLang="nl-NL" i="1" kern="0" dirty="0"/>
              <a:t>Cas Thoonsen van Waterschap Rivierenland </a:t>
            </a:r>
          </a:p>
          <a:p>
            <a:r>
              <a:rPr lang="nl-NL" altLang="nl-NL" kern="0" dirty="0"/>
              <a:t>Modellen genereren en validatieregels uitbreiden </a:t>
            </a:r>
          </a:p>
          <a:p>
            <a:pPr marL="0" indent="357188">
              <a:buNone/>
            </a:pPr>
            <a:r>
              <a:rPr lang="nl-NL" altLang="nl-NL" i="1" kern="0" dirty="0"/>
              <a:t>Emiel Verstegen van RHDHV</a:t>
            </a:r>
          </a:p>
          <a:p>
            <a:r>
              <a:rPr lang="nl-NL" altLang="nl-NL" kern="0" dirty="0"/>
              <a:t>Bewustwording van data</a:t>
            </a:r>
          </a:p>
          <a:p>
            <a:pPr marL="0" indent="357188">
              <a:buNone/>
            </a:pPr>
            <a:r>
              <a:rPr lang="nl-NL" altLang="nl-NL" i="1" kern="0" dirty="0"/>
              <a:t>Johnny van Keulen van Waterschap Aa en Maas </a:t>
            </a:r>
          </a:p>
          <a:p>
            <a:endParaRPr lang="nl-NL" altLang="nl-NL" kern="0" dirty="0"/>
          </a:p>
          <a:p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</p:txBody>
      </p:sp>
      <p:pic>
        <p:nvPicPr>
          <p:cNvPr id="4" name="Picture 2" descr="Logo Het Waterschapshuis">
            <a:extLst>
              <a:ext uri="{FF2B5EF4-FFF2-40B4-BE49-F238E27FC236}">
                <a16:creationId xmlns:a16="http://schemas.microsoft.com/office/drawing/2014/main" id="{F3DF5720-CE4F-BA56-AF3F-07EED226C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9984"/>
            <a:ext cx="1620000" cy="54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2769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Aan de slag met de </a:t>
            </a:r>
            <a:r>
              <a:rPr lang="nl-NL" dirty="0" err="1"/>
              <a:t>tooling</a:t>
            </a:r>
            <a:endParaRPr lang="nl-NL" dirty="0"/>
          </a:p>
        </p:txBody>
      </p:sp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9A078EA-93E2-4E06-9652-6FAE89A9E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907" y="6465949"/>
            <a:ext cx="978493" cy="326926"/>
          </a:xfrm>
          <a:prstGeom prst="rect">
            <a:avLst/>
          </a:prstGeo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809CBA99-00E0-4C0F-9D13-8152BC033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6327374"/>
            <a:ext cx="1000125" cy="60407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152B507-F167-4006-8C89-BB5DC9722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411912"/>
            <a:ext cx="8229600" cy="4713387"/>
          </a:xfrm>
        </p:spPr>
        <p:txBody>
          <a:bodyPr>
            <a:noAutofit/>
          </a:bodyPr>
          <a:lstStyle/>
          <a:p>
            <a:r>
              <a:rPr lang="nl-NL" altLang="nl-NL" kern="0" dirty="0"/>
              <a:t>Rudolf Versteeg</a:t>
            </a:r>
          </a:p>
          <a:p>
            <a:endParaRPr lang="nl-NL" altLang="nl-NL" kern="0" dirty="0"/>
          </a:p>
          <a:p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</p:txBody>
      </p:sp>
      <p:pic>
        <p:nvPicPr>
          <p:cNvPr id="4" name="Picture 2" descr="Logo Het Waterschapshuis">
            <a:extLst>
              <a:ext uri="{FF2B5EF4-FFF2-40B4-BE49-F238E27FC236}">
                <a16:creationId xmlns:a16="http://schemas.microsoft.com/office/drawing/2014/main" id="{F3DF5720-CE4F-BA56-AF3F-07EED226C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9984"/>
            <a:ext cx="1620000" cy="54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Waterschap Zuiderzeeland, duurzaam bouwen in Lelystad | Intermontage">
            <a:extLst>
              <a:ext uri="{FF2B5EF4-FFF2-40B4-BE49-F238E27FC236}">
                <a16:creationId xmlns:a16="http://schemas.microsoft.com/office/drawing/2014/main" id="{9D0FF66F-004C-EC9C-F5A2-535A91A4A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492896"/>
            <a:ext cx="6705600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810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Automatiseren met API en FME</a:t>
            </a:r>
          </a:p>
        </p:txBody>
      </p:sp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9A078EA-93E2-4E06-9652-6FAE89A9E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907" y="6465949"/>
            <a:ext cx="978493" cy="326926"/>
          </a:xfrm>
          <a:prstGeom prst="rect">
            <a:avLst/>
          </a:prstGeo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809CBA99-00E0-4C0F-9D13-8152BC033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6327374"/>
            <a:ext cx="1000125" cy="60407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152B507-F167-4006-8C89-BB5DC9722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411912"/>
            <a:ext cx="8229600" cy="4713387"/>
          </a:xfrm>
        </p:spPr>
        <p:txBody>
          <a:bodyPr>
            <a:noAutofit/>
          </a:bodyPr>
          <a:lstStyle/>
          <a:p>
            <a:r>
              <a:rPr lang="nl-NL" altLang="nl-NL" kern="0" dirty="0"/>
              <a:t>Cas Thoonsen</a:t>
            </a:r>
          </a:p>
          <a:p>
            <a:endParaRPr lang="nl-NL" altLang="nl-NL" kern="0" dirty="0"/>
          </a:p>
          <a:p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</p:txBody>
      </p:sp>
      <p:pic>
        <p:nvPicPr>
          <p:cNvPr id="4" name="Picture 2" descr="Logo Het Waterschapshuis">
            <a:extLst>
              <a:ext uri="{FF2B5EF4-FFF2-40B4-BE49-F238E27FC236}">
                <a16:creationId xmlns:a16="http://schemas.microsoft.com/office/drawing/2014/main" id="{F3DF5720-CE4F-BA56-AF3F-07EED226C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9984"/>
            <a:ext cx="1620000" cy="54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Homepage | Waterschap Rivierenland">
            <a:extLst>
              <a:ext uri="{FF2B5EF4-FFF2-40B4-BE49-F238E27FC236}">
                <a16:creationId xmlns:a16="http://schemas.microsoft.com/office/drawing/2014/main" id="{5C43D8E5-7919-3417-38A5-5EFB9713A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87" y="2524125"/>
            <a:ext cx="3552825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1036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Modellen genereren en validatieregels uitbreiden</a:t>
            </a:r>
          </a:p>
        </p:txBody>
      </p:sp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9A078EA-93E2-4E06-9652-6FAE89A9E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907" y="6465949"/>
            <a:ext cx="978493" cy="326926"/>
          </a:xfrm>
          <a:prstGeom prst="rect">
            <a:avLst/>
          </a:prstGeo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809CBA99-00E0-4C0F-9D13-8152BC033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6327374"/>
            <a:ext cx="1000125" cy="60407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152B507-F167-4006-8C89-BB5DC9722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411912"/>
            <a:ext cx="8229600" cy="4713387"/>
          </a:xfrm>
        </p:spPr>
        <p:txBody>
          <a:bodyPr>
            <a:noAutofit/>
          </a:bodyPr>
          <a:lstStyle/>
          <a:p>
            <a:r>
              <a:rPr lang="nl-NL" altLang="nl-NL" kern="0" dirty="0"/>
              <a:t>Emiel Verstegen</a:t>
            </a:r>
          </a:p>
          <a:p>
            <a:endParaRPr lang="nl-NL" altLang="nl-NL" kern="0" dirty="0"/>
          </a:p>
          <a:p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</p:txBody>
      </p:sp>
      <p:pic>
        <p:nvPicPr>
          <p:cNvPr id="4" name="Picture 2" descr="Logo Het Waterschapshuis">
            <a:extLst>
              <a:ext uri="{FF2B5EF4-FFF2-40B4-BE49-F238E27FC236}">
                <a16:creationId xmlns:a16="http://schemas.microsoft.com/office/drawing/2014/main" id="{F3DF5720-CE4F-BA56-AF3F-07EED226C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9984"/>
            <a:ext cx="1620000" cy="54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Akvo RSR - RHDHV Indonesia">
            <a:extLst>
              <a:ext uri="{FF2B5EF4-FFF2-40B4-BE49-F238E27FC236}">
                <a16:creationId xmlns:a16="http://schemas.microsoft.com/office/drawing/2014/main" id="{85088F82-C3C6-62EE-0DFE-17D20A7C3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344" y="2780928"/>
            <a:ext cx="4320000" cy="1579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961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Bewustwording van data</a:t>
            </a:r>
          </a:p>
        </p:txBody>
      </p:sp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9A078EA-93E2-4E06-9652-6FAE89A9E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907" y="6465949"/>
            <a:ext cx="978493" cy="326926"/>
          </a:xfrm>
          <a:prstGeom prst="rect">
            <a:avLst/>
          </a:prstGeo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809CBA99-00E0-4C0F-9D13-8152BC033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6327374"/>
            <a:ext cx="1000125" cy="60407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152B507-F167-4006-8C89-BB5DC9722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411912"/>
            <a:ext cx="8229600" cy="4713387"/>
          </a:xfrm>
        </p:spPr>
        <p:txBody>
          <a:bodyPr>
            <a:noAutofit/>
          </a:bodyPr>
          <a:lstStyle/>
          <a:p>
            <a:r>
              <a:rPr lang="nl-NL" altLang="nl-NL" kern="0" dirty="0"/>
              <a:t>Johnny van Keulen</a:t>
            </a:r>
          </a:p>
          <a:p>
            <a:endParaRPr lang="nl-NL" altLang="nl-NL" kern="0" dirty="0"/>
          </a:p>
          <a:p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</p:txBody>
      </p:sp>
      <p:pic>
        <p:nvPicPr>
          <p:cNvPr id="4" name="Picture 2" descr="Logo Het Waterschapshuis">
            <a:extLst>
              <a:ext uri="{FF2B5EF4-FFF2-40B4-BE49-F238E27FC236}">
                <a16:creationId xmlns:a16="http://schemas.microsoft.com/office/drawing/2014/main" id="{F3DF5720-CE4F-BA56-AF3F-07EED226C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9984"/>
            <a:ext cx="1620000" cy="54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VVD 's-Hertogenbosch - Waterschap Aa en Maas">
            <a:extLst>
              <a:ext uri="{FF2B5EF4-FFF2-40B4-BE49-F238E27FC236}">
                <a16:creationId xmlns:a16="http://schemas.microsoft.com/office/drawing/2014/main" id="{EBFF9E54-D3C4-5C0B-44B0-4AB34D426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2309496"/>
            <a:ext cx="5905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322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Pauze</a:t>
            </a:r>
          </a:p>
        </p:txBody>
      </p:sp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9A078EA-93E2-4E06-9652-6FAE89A9E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907" y="6465949"/>
            <a:ext cx="978493" cy="326926"/>
          </a:xfrm>
          <a:prstGeom prst="rect">
            <a:avLst/>
          </a:prstGeo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809CBA99-00E0-4C0F-9D13-8152BC033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6327374"/>
            <a:ext cx="1000125" cy="60407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152B507-F167-4006-8C89-BB5DC9722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411912"/>
            <a:ext cx="8229600" cy="4713387"/>
          </a:xfrm>
        </p:spPr>
        <p:txBody>
          <a:bodyPr>
            <a:noAutofit/>
          </a:bodyPr>
          <a:lstStyle/>
          <a:p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</p:txBody>
      </p:sp>
      <p:pic>
        <p:nvPicPr>
          <p:cNvPr id="4" name="Picture 2" descr="Logo Het Waterschapshuis">
            <a:extLst>
              <a:ext uri="{FF2B5EF4-FFF2-40B4-BE49-F238E27FC236}">
                <a16:creationId xmlns:a16="http://schemas.microsoft.com/office/drawing/2014/main" id="{F3DF5720-CE4F-BA56-AF3F-07EED226C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9984"/>
            <a:ext cx="1620000" cy="54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We leggen je graag uit waarom een dieet pauze een goed idee is!">
            <a:extLst>
              <a:ext uri="{FF2B5EF4-FFF2-40B4-BE49-F238E27FC236}">
                <a16:creationId xmlns:a16="http://schemas.microsoft.com/office/drawing/2014/main" id="{DDAD1793-CC48-472D-A1B4-990B13851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1209837"/>
            <a:ext cx="6667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0151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Break-out sessies</a:t>
            </a:r>
          </a:p>
        </p:txBody>
      </p:sp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9A078EA-93E2-4E06-9652-6FAE89A9E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907" y="6465949"/>
            <a:ext cx="978493" cy="326926"/>
          </a:xfrm>
          <a:prstGeom prst="rect">
            <a:avLst/>
          </a:prstGeo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809CBA99-00E0-4C0F-9D13-8152BC033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6327374"/>
            <a:ext cx="1000125" cy="60407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152B507-F167-4006-8C89-BB5DC9722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411912"/>
            <a:ext cx="8229600" cy="4713387"/>
          </a:xfrm>
        </p:spPr>
        <p:txBody>
          <a:bodyPr>
            <a:noAutofit/>
          </a:bodyPr>
          <a:lstStyle/>
          <a:p>
            <a:r>
              <a:rPr lang="nl-NL" altLang="nl-NL" kern="0" dirty="0"/>
              <a:t>Mogelijkheid tot interactie</a:t>
            </a:r>
          </a:p>
          <a:p>
            <a:r>
              <a:rPr lang="nl-NL" altLang="nl-NL" kern="0" dirty="0"/>
              <a:t>Vragen stellen/voorbeelden</a:t>
            </a:r>
          </a:p>
          <a:p>
            <a:r>
              <a:rPr lang="nl-NL" altLang="nl-NL" kern="0" dirty="0"/>
              <a:t>Ervaringen uitwisselen</a:t>
            </a:r>
          </a:p>
          <a:p>
            <a:r>
              <a:rPr lang="nl-NL" altLang="nl-NL" kern="0" dirty="0"/>
              <a:t>3 sessies in verschillende ruimte</a:t>
            </a:r>
          </a:p>
          <a:p>
            <a:endParaRPr lang="nl-NL" altLang="nl-NL" kern="0" dirty="0"/>
          </a:p>
          <a:p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</p:txBody>
      </p:sp>
      <p:pic>
        <p:nvPicPr>
          <p:cNvPr id="4" name="Picture 2" descr="Logo Het Waterschapshuis">
            <a:extLst>
              <a:ext uri="{FF2B5EF4-FFF2-40B4-BE49-F238E27FC236}">
                <a16:creationId xmlns:a16="http://schemas.microsoft.com/office/drawing/2014/main" id="{F3DF5720-CE4F-BA56-AF3F-07EED226C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9984"/>
            <a:ext cx="1620000" cy="54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2" name="Picture 2" descr="199 Breakout Session Images, Stock Photos &amp; Vectors | Shutterstock">
            <a:extLst>
              <a:ext uri="{FF2B5EF4-FFF2-40B4-BE49-F238E27FC236}">
                <a16:creationId xmlns:a16="http://schemas.microsoft.com/office/drawing/2014/main" id="{27A7008D-9EB8-C26D-CCC4-FE0A29D657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01"/>
          <a:stretch/>
        </p:blipFill>
        <p:spPr bwMode="auto">
          <a:xfrm>
            <a:off x="2714625" y="3501008"/>
            <a:ext cx="3714750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682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Break-out sessie 1</a:t>
            </a:r>
          </a:p>
        </p:txBody>
      </p:sp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9A078EA-93E2-4E06-9652-6FAE89A9E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907" y="6465949"/>
            <a:ext cx="978493" cy="326926"/>
          </a:xfrm>
          <a:prstGeom prst="rect">
            <a:avLst/>
          </a:prstGeo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809CBA99-00E0-4C0F-9D13-8152BC033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6327374"/>
            <a:ext cx="1000125" cy="60407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152B507-F167-4006-8C89-BB5DC9722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411912"/>
            <a:ext cx="8229600" cy="47133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l-NL" altLang="nl-NL" kern="0" dirty="0"/>
              <a:t>Wat te doen als je wilt beginnen met de </a:t>
            </a:r>
            <a:r>
              <a:rPr lang="nl-NL" altLang="nl-NL" kern="0" dirty="0" err="1"/>
              <a:t>HyDAMO</a:t>
            </a:r>
            <a:r>
              <a:rPr lang="nl-NL" altLang="nl-NL" kern="0" dirty="0"/>
              <a:t> Validatietool</a:t>
            </a:r>
          </a:p>
          <a:p>
            <a:r>
              <a:rPr lang="nl-NL" altLang="nl-NL" kern="0" dirty="0"/>
              <a:t>Wat heb je nodig?</a:t>
            </a:r>
          </a:p>
          <a:p>
            <a:r>
              <a:rPr lang="nl-NL" altLang="nl-NL" kern="0" dirty="0"/>
              <a:t>Waar vind ik de benodigde tools?</a:t>
            </a:r>
          </a:p>
          <a:p>
            <a:r>
              <a:rPr lang="nl-NL" altLang="nl-NL" kern="0" dirty="0"/>
              <a:t>Welke data moet ik verzamelen?</a:t>
            </a:r>
          </a:p>
          <a:p>
            <a:r>
              <a:rPr lang="nl-NL" altLang="nl-NL" kern="0" dirty="0"/>
              <a:t>Hoe krijg ik die in het juiste formaat?</a:t>
            </a:r>
          </a:p>
          <a:p>
            <a:r>
              <a:rPr lang="nl-NL" altLang="nl-NL" kern="0" dirty="0"/>
              <a:t>Hoe gebruik ik de Validatietool?</a:t>
            </a:r>
          </a:p>
          <a:p>
            <a:r>
              <a:rPr lang="nl-NL" altLang="nl-NL" kern="0" dirty="0"/>
              <a:t>Wat kan ik met het resultaat?</a:t>
            </a:r>
          </a:p>
          <a:p>
            <a:r>
              <a:rPr lang="nl-NL" altLang="nl-NL" kern="0" dirty="0"/>
              <a:t>Etc.</a:t>
            </a:r>
          </a:p>
          <a:p>
            <a:endParaRPr lang="nl-NL" altLang="nl-NL" kern="0" dirty="0"/>
          </a:p>
          <a:p>
            <a:pPr marL="0" indent="0">
              <a:buNone/>
            </a:pPr>
            <a:r>
              <a:rPr lang="nl-NL" altLang="nl-NL" sz="2000" kern="0" dirty="0"/>
              <a:t>Rudolf Versteeg, Johnny van Keulen, Bertus de Graaff</a:t>
            </a:r>
            <a:endParaRPr lang="nl-NL" altLang="nl-NL" kern="0" dirty="0"/>
          </a:p>
          <a:p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</p:txBody>
      </p:sp>
      <p:pic>
        <p:nvPicPr>
          <p:cNvPr id="4" name="Picture 2" descr="Logo Het Waterschapshuis">
            <a:extLst>
              <a:ext uri="{FF2B5EF4-FFF2-40B4-BE49-F238E27FC236}">
                <a16:creationId xmlns:a16="http://schemas.microsoft.com/office/drawing/2014/main" id="{F3DF5720-CE4F-BA56-AF3F-07EED226C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9984"/>
            <a:ext cx="1620000" cy="54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6783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Break-out sessie 2</a:t>
            </a:r>
          </a:p>
        </p:txBody>
      </p:sp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9A078EA-93E2-4E06-9652-6FAE89A9E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907" y="6465949"/>
            <a:ext cx="978493" cy="326926"/>
          </a:xfrm>
          <a:prstGeom prst="rect">
            <a:avLst/>
          </a:prstGeo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809CBA99-00E0-4C0F-9D13-8152BC033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6327374"/>
            <a:ext cx="1000125" cy="60407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152B507-F167-4006-8C89-BB5DC9722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411912"/>
            <a:ext cx="8229600" cy="47133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l-NL" altLang="nl-NL" kern="0" dirty="0"/>
              <a:t>Automatiseren kun je leren (ook met de </a:t>
            </a:r>
            <a:r>
              <a:rPr lang="nl-NL" altLang="nl-NL" kern="0" dirty="0" err="1"/>
              <a:t>HyDAMO</a:t>
            </a:r>
            <a:r>
              <a:rPr lang="nl-NL" altLang="nl-NL" kern="0" dirty="0"/>
              <a:t> Validatietool)</a:t>
            </a:r>
          </a:p>
          <a:p>
            <a:r>
              <a:rPr lang="nl-NL" altLang="nl-NL" kern="0" dirty="0"/>
              <a:t>Wat is de Validatie API?</a:t>
            </a:r>
          </a:p>
          <a:p>
            <a:r>
              <a:rPr lang="nl-NL" altLang="nl-NL" kern="0" dirty="0"/>
              <a:t>Hoe kan ik deze gebruiken?</a:t>
            </a:r>
          </a:p>
          <a:p>
            <a:r>
              <a:rPr lang="nl-NL" altLang="nl-NL" kern="0" dirty="0"/>
              <a:t>Welke voorbeelden zijn beschikbaar?</a:t>
            </a:r>
          </a:p>
          <a:p>
            <a:r>
              <a:rPr lang="nl-NL" altLang="nl-NL" kern="0" dirty="0"/>
              <a:t>Waarom zou ik automatiseren?</a:t>
            </a:r>
          </a:p>
          <a:p>
            <a:r>
              <a:rPr lang="nl-NL" altLang="nl-NL" kern="0" dirty="0"/>
              <a:t>Etc.</a:t>
            </a:r>
          </a:p>
          <a:p>
            <a:endParaRPr lang="nl-NL" altLang="nl-NL" kern="0" dirty="0"/>
          </a:p>
          <a:p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  <a:p>
            <a:pPr marL="0" indent="0">
              <a:buNone/>
            </a:pPr>
            <a:r>
              <a:rPr lang="nl-NL" altLang="nl-NL" sz="2000" kern="0" dirty="0"/>
              <a:t>Cas Thoonsen en Bart Thonus</a:t>
            </a:r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</p:txBody>
      </p:sp>
      <p:pic>
        <p:nvPicPr>
          <p:cNvPr id="4" name="Picture 2" descr="Logo Het Waterschapshuis">
            <a:extLst>
              <a:ext uri="{FF2B5EF4-FFF2-40B4-BE49-F238E27FC236}">
                <a16:creationId xmlns:a16="http://schemas.microsoft.com/office/drawing/2014/main" id="{F3DF5720-CE4F-BA56-AF3F-07EED226C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9984"/>
            <a:ext cx="1620000" cy="54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707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Break-out sessie 3</a:t>
            </a:r>
          </a:p>
        </p:txBody>
      </p:sp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9A078EA-93E2-4E06-9652-6FAE89A9E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907" y="6465949"/>
            <a:ext cx="978493" cy="326926"/>
          </a:xfrm>
          <a:prstGeom prst="rect">
            <a:avLst/>
          </a:prstGeo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809CBA99-00E0-4C0F-9D13-8152BC033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6327374"/>
            <a:ext cx="1000125" cy="60407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152B507-F167-4006-8C89-BB5DC9722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411912"/>
            <a:ext cx="8229600" cy="47133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l-NL" altLang="nl-NL" kern="0" dirty="0"/>
              <a:t>Geavanceerd gebruik: Validatieregels toevoegen</a:t>
            </a:r>
          </a:p>
          <a:p>
            <a:r>
              <a:rPr lang="nl-NL" altLang="nl-NL" kern="0" dirty="0"/>
              <a:t>Kan ik eigen validatieregels toepassen?</a:t>
            </a:r>
          </a:p>
          <a:p>
            <a:r>
              <a:rPr lang="nl-NL" altLang="nl-NL" kern="0" dirty="0"/>
              <a:t>Welke bouwstenen zijn beschikbaar?</a:t>
            </a:r>
          </a:p>
          <a:p>
            <a:r>
              <a:rPr lang="nl-NL" altLang="nl-NL" kern="0" dirty="0"/>
              <a:t>Hoe biedt ik eigen validatieregels aan de Validatietool aan?</a:t>
            </a:r>
          </a:p>
          <a:p>
            <a:r>
              <a:rPr lang="nl-NL" altLang="nl-NL" kern="0" dirty="0"/>
              <a:t>Wat als ik een ingewikkelde topologische regel zou willen toevoegen?</a:t>
            </a:r>
          </a:p>
          <a:p>
            <a:r>
              <a:rPr lang="nl-NL" altLang="nl-NL" kern="0" dirty="0"/>
              <a:t>Etc.</a:t>
            </a:r>
          </a:p>
          <a:p>
            <a:endParaRPr lang="nl-NL" altLang="nl-NL" kern="0" dirty="0"/>
          </a:p>
          <a:p>
            <a:endParaRPr lang="nl-NL" altLang="nl-NL" kern="0" dirty="0"/>
          </a:p>
          <a:p>
            <a:pPr marL="0" indent="0">
              <a:buNone/>
            </a:pPr>
            <a:r>
              <a:rPr lang="nl-NL" altLang="nl-NL" sz="2000" kern="0" dirty="0"/>
              <a:t>Emiel Verstegen en Daniel Tollenaar</a:t>
            </a:r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</p:txBody>
      </p:sp>
      <p:pic>
        <p:nvPicPr>
          <p:cNvPr id="4" name="Picture 2" descr="Logo Het Waterschapshuis">
            <a:extLst>
              <a:ext uri="{FF2B5EF4-FFF2-40B4-BE49-F238E27FC236}">
                <a16:creationId xmlns:a16="http://schemas.microsoft.com/office/drawing/2014/main" id="{F3DF5720-CE4F-BA56-AF3F-07EED226C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9984"/>
            <a:ext cx="1620000" cy="54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8531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Terugmelding</a:t>
            </a:r>
          </a:p>
        </p:txBody>
      </p:sp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9A078EA-93E2-4E06-9652-6FAE89A9E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907" y="6465949"/>
            <a:ext cx="978493" cy="326926"/>
          </a:xfrm>
          <a:prstGeom prst="rect">
            <a:avLst/>
          </a:prstGeo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809CBA99-00E0-4C0F-9D13-8152BC033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6327374"/>
            <a:ext cx="1000125" cy="60407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152B507-F167-4006-8C89-BB5DC9722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411912"/>
            <a:ext cx="8229600" cy="4713387"/>
          </a:xfrm>
        </p:spPr>
        <p:txBody>
          <a:bodyPr>
            <a:noAutofit/>
          </a:bodyPr>
          <a:lstStyle/>
          <a:p>
            <a:r>
              <a:rPr lang="nl-NL" altLang="nl-NL" kern="0" dirty="0"/>
              <a:t>Wat hebben we vandaag gezien:	</a:t>
            </a:r>
          </a:p>
          <a:p>
            <a:pPr lvl="1"/>
            <a:r>
              <a:rPr lang="nl-NL" altLang="nl-NL" kern="0" dirty="0"/>
              <a:t>…</a:t>
            </a:r>
          </a:p>
          <a:p>
            <a:endParaRPr lang="nl-NL" altLang="nl-NL" kern="0" dirty="0"/>
          </a:p>
          <a:p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</p:txBody>
      </p:sp>
      <p:pic>
        <p:nvPicPr>
          <p:cNvPr id="4" name="Picture 2" descr="Logo Het Waterschapshuis">
            <a:extLst>
              <a:ext uri="{FF2B5EF4-FFF2-40B4-BE49-F238E27FC236}">
                <a16:creationId xmlns:a16="http://schemas.microsoft.com/office/drawing/2014/main" id="{F3DF5720-CE4F-BA56-AF3F-07EED226C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9984"/>
            <a:ext cx="1620000" cy="54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8613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Borrel</a:t>
            </a:r>
          </a:p>
        </p:txBody>
      </p:sp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9A078EA-93E2-4E06-9652-6FAE89A9E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907" y="6465949"/>
            <a:ext cx="978493" cy="326926"/>
          </a:xfrm>
          <a:prstGeom prst="rect">
            <a:avLst/>
          </a:prstGeo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809CBA99-00E0-4C0F-9D13-8152BC033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6327374"/>
            <a:ext cx="1000125" cy="60407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152B507-F167-4006-8C89-BB5DC9722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411912"/>
            <a:ext cx="8229600" cy="4713387"/>
          </a:xfrm>
        </p:spPr>
        <p:txBody>
          <a:bodyPr>
            <a:noAutofit/>
          </a:bodyPr>
          <a:lstStyle/>
          <a:p>
            <a:endParaRPr lang="nl-NL" altLang="nl-NL" kern="0" dirty="0"/>
          </a:p>
          <a:p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  <a:p>
            <a:pPr marL="0" indent="0">
              <a:buNone/>
            </a:pPr>
            <a:endParaRPr lang="nl-NL" altLang="nl-NL" kern="0" dirty="0"/>
          </a:p>
        </p:txBody>
      </p:sp>
      <p:pic>
        <p:nvPicPr>
          <p:cNvPr id="4" name="Picture 2" descr="Logo Het Waterschapshuis">
            <a:extLst>
              <a:ext uri="{FF2B5EF4-FFF2-40B4-BE49-F238E27FC236}">
                <a16:creationId xmlns:a16="http://schemas.microsoft.com/office/drawing/2014/main" id="{F3DF5720-CE4F-BA56-AF3F-07EED226C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39984"/>
            <a:ext cx="1620000" cy="54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6" name="Picture 2" descr="Borrel | Enversed">
            <a:extLst>
              <a:ext uri="{FF2B5EF4-FFF2-40B4-BE49-F238E27FC236}">
                <a16:creationId xmlns:a16="http://schemas.microsoft.com/office/drawing/2014/main" id="{102BA633-C5DA-1AA3-02AE-FE2A33AA9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" y="2100263"/>
            <a:ext cx="7562850" cy="26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372532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e HKV lijn in wa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Introductie HKV lijn in water</Template>
  <TotalTime>17812</TotalTime>
  <Words>805</Words>
  <Application>Microsoft Office PowerPoint</Application>
  <PresentationFormat>On-screen Show (4:3)</PresentationFormat>
  <Paragraphs>144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Verdana</vt:lpstr>
      <vt:lpstr>Introductie HKV lijn in water</vt:lpstr>
      <vt:lpstr>Custom Design</vt:lpstr>
      <vt:lpstr>HyDAMO Validatietool</vt:lpstr>
      <vt:lpstr>Programma</vt:lpstr>
      <vt:lpstr>Inleiding</vt:lpstr>
      <vt:lpstr>Inleiding</vt:lpstr>
      <vt:lpstr>Inleiding</vt:lpstr>
      <vt:lpstr>Inleiding</vt:lpstr>
      <vt:lpstr>Gebruikerservaringen uit het veld</vt:lpstr>
      <vt:lpstr>Aan de slag met de tooling</vt:lpstr>
      <vt:lpstr>Automatiseren met API en FME</vt:lpstr>
      <vt:lpstr>Modellen genereren en validatieregels uitbreiden</vt:lpstr>
      <vt:lpstr>Bewustwording van data</vt:lpstr>
      <vt:lpstr>Pauze</vt:lpstr>
      <vt:lpstr>Break-out sessies</vt:lpstr>
      <vt:lpstr>Break-out sessie 1</vt:lpstr>
      <vt:lpstr>Break-out sessie 2</vt:lpstr>
      <vt:lpstr>Break-out sessie 3</vt:lpstr>
      <vt:lpstr>Terugmelding</vt:lpstr>
      <vt:lpstr>Borrel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Webinar</dc:title>
  <dc:creator>Thonus, Bart</dc:creator>
  <cp:lastModifiedBy>Thonus, Bart</cp:lastModifiedBy>
  <cp:revision>36</cp:revision>
  <cp:lastPrinted>2017-12-19T13:07:03Z</cp:lastPrinted>
  <dcterms:created xsi:type="dcterms:W3CDTF">2021-09-22T18:15:45Z</dcterms:created>
  <dcterms:modified xsi:type="dcterms:W3CDTF">2023-02-10T09:57:42Z</dcterms:modified>
</cp:coreProperties>
</file>